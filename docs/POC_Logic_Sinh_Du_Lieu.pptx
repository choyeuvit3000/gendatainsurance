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ổng quan" id="{4abdfe59-a7c9-ab1a-74a3-017b3f769d33}">
          <p14:sldIdLst>
            <p14:sldId id="256"/>
            <p14:sldId id="257"/>
          </p14:sldIdLst>
        </p14:section>
        <p14:section name="Danh mục và giao dịch" id="{cd567e67-8c2a-ccfe-cba5-e6fe9278d6b4}">
          <p14:sldIdLst>
            <p14:sldId id="258"/>
            <p14:sldId id="259"/>
            <p14:sldId id="260"/>
          </p14:sldIdLst>
        </p14:section>
        <p14:section name="Cơ chế và căn cứ" id="{f88fc999-88d8-6192-2daf-09f11c390e5d}">
          <p14:sldIdLst>
            <p14:sldId id="261"/>
            <p14:sldId id="262"/>
            <p14:sldId id="263"/>
          </p14:sldIdLst>
        </p14:section>
        <p14:section name="Kết quả" id="{ba5f7b5e-24b3-2751-82dc-d6cc1b2b278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B40"/>
                </a:solidFill>
                <a:latin typeface="+mn-lt"/>
              </a:defRPr>
            </a:pPr>
            <a:r>
              <a:rPr sz="1300" b="0" i="0" u="none" strike="noStrike">
                <a:solidFill>
                  <a:srgbClr val="0B3B40"/>
                </a:solidFill>
                <a:latin typeface="+mn-lt"/>
              </a:rPr>
              <a:t>Theo nhóm sản phẩm, tháng 8–9/2026 (%)</a:t>
            </a:r>
          </a:p>
        </c:rich>
      </c:tx>
      <c:layout/>
      <c:overlay val="0"/>
    </c:title>
    <c:autoTitleDeleted val="0"/>
    <c:plotArea>
      <c:layout/>
      <c:barChart>
        <c:barDir val="col"/>
        <c:grouping val="clustered"/>
        <c:varyColors val="0"/>
        <c:ser>
          <c:idx val="0"/>
          <c:order val="0"/>
          <c:tx>
            <c:strRef>
              <c:f>Sheet1!$B$1</c:f>
              <c:strCache>
                <c:ptCount val="1"/>
                <c:pt idx="0">
                  <c:v>% số hợp đồng</c:v>
                </c:pt>
              </c:strCache>
            </c:strRef>
          </c:tx>
          <c:spPr>
            <a:solidFill>
              <a:srgbClr val="3E5C99"/>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TNDS BB</c:v>
                  </c:pt>
                  <c:pt idx="1">
                    <c:v>Vật chất xe</c:v>
                  </c:pt>
                  <c:pt idx="2">
                    <c:v>Học sinh</c:v>
                  </c:pt>
                  <c:pt idx="3">
                    <c:v>Du lịch</c:v>
                  </c:pt>
                  <c:pt idx="4">
                    <c:v>Sinh mạng</c:v>
                  </c:pt>
                  <c:pt idx="5">
                    <c:v>Sức khỏe</c:v>
                  </c:pt>
                  <c:pt idx="6">
                    <c:v>Tài sản</c:v>
                  </c:pt>
                  <c:pt idx="7">
                    <c:v>Cháy nổ</c:v>
                  </c:pt>
                  <c:pt idx="8">
                    <c:v>Vi mô</c:v>
                  </c:pt>
                </c:lvl>
              </c:multiLvlStrCache>
            </c:multiLvlStrRef>
          </c:cat>
          <c:val>
            <c:numRef>
              <c:f>Sheet1!$B$2:$B$10</c:f>
              <c:numCache>
                <c:formatCode>General</c:formatCode>
                <c:ptCount val="9"/>
                <c:pt idx="0">
                  <c:v>5.3</c:v>
                </c:pt>
                <c:pt idx="1">
                  <c:v>1</c:v>
                </c:pt>
                <c:pt idx="2">
                  <c:v>0.5</c:v>
                </c:pt>
                <c:pt idx="3">
                  <c:v>3</c:v>
                </c:pt>
                <c:pt idx="4">
                  <c:v>8.6</c:v>
                </c:pt>
                <c:pt idx="5">
                  <c:v>1.1</c:v>
                </c:pt>
                <c:pt idx="6">
                  <c:v>3</c:v>
                </c:pt>
                <c:pt idx="7">
                  <c:v>0.1</c:v>
                </c:pt>
                <c:pt idx="8">
                  <c:v>77.3</c:v>
                </c:pt>
              </c:numCache>
            </c:numRef>
          </c:val>
        </c:ser>
        <c:ser>
          <c:idx val="1"/>
          <c:order val="1"/>
          <c:tx>
            <c:strRef>
              <c:f>Sheet1!$C$1</c:f>
              <c:strCache>
                <c:ptCount val="1"/>
                <c:pt idx="0">
                  <c:v>% doanh thu</c:v>
                </c:pt>
              </c:strCache>
            </c:strRef>
          </c:tx>
          <c:spPr>
            <a:solidFill>
              <a:srgbClr val="C2551E"/>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TNDS BB</c:v>
                  </c:pt>
                  <c:pt idx="1">
                    <c:v>Vật chất xe</c:v>
                  </c:pt>
                  <c:pt idx="2">
                    <c:v>Học sinh</c:v>
                  </c:pt>
                  <c:pt idx="3">
                    <c:v>Du lịch</c:v>
                  </c:pt>
                  <c:pt idx="4">
                    <c:v>Sinh mạng</c:v>
                  </c:pt>
                  <c:pt idx="5">
                    <c:v>Sức khỏe</c:v>
                  </c:pt>
                  <c:pt idx="6">
                    <c:v>Tài sản</c:v>
                  </c:pt>
                  <c:pt idx="7">
                    <c:v>Cháy nổ</c:v>
                  </c:pt>
                  <c:pt idx="8">
                    <c:v>Vi mô</c:v>
                  </c:pt>
                </c:lvl>
              </c:multiLvlStrCache>
            </c:multiLvlStrRef>
          </c:cat>
          <c:val>
            <c:numRef>
              <c:f>Sheet1!$C$2:$C$10</c:f>
              <c:numCache>
                <c:formatCode>General</c:formatCode>
                <c:ptCount val="9"/>
                <c:pt idx="0">
                  <c:v>4.3</c:v>
                </c:pt>
                <c:pt idx="1">
                  <c:v>13.3</c:v>
                </c:pt>
                <c:pt idx="2">
                  <c:v>1.6</c:v>
                </c:pt>
                <c:pt idx="3">
                  <c:v>0.4</c:v>
                </c:pt>
                <c:pt idx="4">
                  <c:v>4.4</c:v>
                </c:pt>
                <c:pt idx="5">
                  <c:v>23.6</c:v>
                </c:pt>
                <c:pt idx="6">
                  <c:v>17.3</c:v>
                </c:pt>
                <c:pt idx="7">
                  <c:v>33.7</c:v>
                </c:pt>
                <c:pt idx="8">
                  <c:v>1.3</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giải thích dữ liệu nguồn gồm những danh mục và giao dịch nào, vì sao thiết kế như vậy, con số doanh thu đến từ đâu, chỗ nào là giả định và vì sao chọn giả định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nhóm nguồn: khung nghiệp vụ lấy từ luật; con số lấy từ số công bố; thông tin công khai để định hướng tỷ lệ và giá; dataset mẫu và chuẩn ngành chỉ để chứng minh cấu trúc — không lấy số; nhóm mới là bảo hiểm vi mô và đơn vị PVI (47 đơn vị thật, 4 sản phẩm vi mô có công bố). Nhóm mới được nghiên cứu chéo bằng codex CLI và agy CLI, mọi link kiểm lại bằng curl ngày 19/10/2026; mục không tìm thấy (doanh thu từng đơn vị, số GCN vi mô, phí DelayCare) ghi là ước tính. Một ô có thể gộp 2 nguồn, link trỏ tới nguồn đầu; đủ từng link ở Logic_Sinh_Du_Lieu.html (60 nguồn, mục Nguồn). Không dùng dữ liệu nội bộ của doanh nghiệp nào. Với PDF, số trang là trang theo trình đọc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bảng ứng với một quy tắc nghiệp vụ bắt buộc. Không dùng bảng phẳng vì sẽ lặp thông tin hợp đồng và không cộng đúng doanh thu khi có sửa đổi, hoàn phí (Kimball đặt grain ở giao dịch × coverage). Dataset public có cùng cách tách: fremotor1prem0304 ghi phí theo từng quyền lợi trên một hợp đồng; Synthea tách bên bảo hiểm, thời gian tham gia, giao dịch; CAS Schedule P tách phí toàn bộ và phần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chiều phân tích của đề bài có danh mục riêng, mã lấy từ văn bản pháp luật. Doanh nghiệp là Tổng Công ty Bảo hiểm PVI (công ty con 100% của PVI Holdings, BCTN 2024 trang PDF 12) với 47 đơn vị thật theo pvi.com.vn/vi/network; Hanoi Re và PVIAM không cấp hợp đồng gốc nên ngoài phạm vi. 4 sản phẩm vi mô là sản phẩm PVI có công bố (Green SM Care, Food Care, DelayCare, thiết bị điện tử trên Shopee/Lazada qua Fuse). Phần giả định: trọng số doanh thu của đơn vị (PVI không công bố doanh thu từng đơn vị); đối tác cũ và DN đồng BH ẩn danh; 6 phân khúc khách do dự án đặt.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tính trên dòng phí của giao dịch đã duyệt, phần của công ty, phần phân bổ cho đơn vị. Hoàn, giảm, hủy là khoản giảm thu nên mang dấu âm. Tỷ lệ tái tục và tần suất SĐBS theo từng sản phẩm là giả định; dấu và tài khoản là quy định. Số hợp đồng năm trước của đơn tái tục lưu ở prev_policy_no (ngoài kỳ dữ liệu). Bảng dưới: GCN vi mô — mỗi GCN là 1 hợp đồng + 1 giao dịch NEW, cấp qua API của đối tác (kênh điện tử), hiệu lực trong ngày (chuyến xe, đồ ăn) hoặc 12 tháng (thiết bị điện tử); DelayCare hủy 3% trước ngày bay, thiết bị điện tử hủy 2% khi trả hàng. Đơn giá theo nguồn công khai (greensm.com, pvi.com.vn, help.shopee.vn); số GCN mỗi ngày là ước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sách = mục tiêu năm theo BCTC PVI 2025 (trang 45) × tỷ trọng tháng 8, 9 của toàn thị trường 2025 (Bộ Tài chính: 5.592 và 8.002 trên 88.054 tỷ) — đúng quy mô PVI, không nhân hệ số quy mô (bản trước nhân k ≈ 3,93, nay đã bỏ). Sản phẩm truyền thống ở quy mô này chỉ cho khoảng 12–18 nghìn giao dịch/ngày; phần còn lại đến từ bảo hiểm vi mô PVI có công bố: Green SM Care 40.000, Food Care 8.000, thiết bị điện tử 3.000, DelayCare 300 GCN/ngày (ước tính có căn cứ: Green SM &gt; 1 triệu chuyến/ngày × 20% mua × 20% về PVI). Phí 1.000–2.000 đ nên vi mô chỉ khoảng 1,3% doanh thu; nó nằm trong ngân sách nhóm và được coi là dòng cố định khi hiệu chỉnh. Đơn doanh nghiệp, nhóm, lô được co giãn để khớp ngân sách từng đợt 7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Bán lẻ nhiều đơn nhỏ, doanh nghiệp ít đơn nhưng phí lớn. Cá nhân nhiều hợp đồng vì mỗi người mua theo từng xe / chuyến / người; ít tiền vì phí theo biểu phí và giá niêm yết nhỏ. PVI tập trung khách doanh nghiệp (FPTS trang 14). Cột số hợp đồng là kết quả của giả định (ngân sách ÷ đơn giá, cộng GCN vi mô theo ngày); cột doanh thu neo theo BCTC. Biểu đồ tách bảo hiểm vi mô thành cột riêng: vi mô 77,3% số hợp đồng nhưng 1,3% doanh thu; nếu gộp vào Sinh mạng thì Sinh mạng chiếm 80,8% số hợp đồng. Thêm vi mô làm phân phối lệch hơn: 10% hợp đồng lớn nhất chiếm 97,7% doanh thu, 1% chiếm 80,1%; quy mô và cơ cấu doanh thu không đổi. Đây là đặc trưng thật của bảo hiểm nhúng (OPES 109,3 triệu hợp đồng năm 2023) — dashboard nên tách số giao dịch và doanh thu. Trên DB: cá nhân định danh 97,2% hợp đồng, 35,5% doanh thu; khách lẻ mua qua đối tác 0,0% hợp đồng, 1,1% doanh thu.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từng nghiệp vụ luôn đúng số công bố; giả định chỉ quyết định phần chia chi tiết. Đổi giả định thì chạy lại, bước hiệu chỉnh tự kéo về mục tiêu. Những gì ngẫu nhiên (ngày trong tháng, giá xe, STBH, cỡ lô, tỷ lệ phí trong khoảng, hệ số tái tục, hoa hồng dưới trần, tên khách) chỉ cần một câu: chọn ngẫu nhiên trong khoảng hợp lý, tổng đã hiệu chỉnh nên không đổi doanh thu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đo trực tiếp trên reportapi sau lần nạp lại 19/10/2026 (khóa 60.000.001–64.082.637, không dùng lại khóa cũ nhờ bảng watermark). Doanh thu đúng quy mô PVI, không hệ số k; cơ cấu khớp BCTC PVI vì đã hiệu chỉnh theo ngân sách từng nhóm. Vi mô chiếm phần lớn số hợp đồng nhưng khoảng 1,3% doanh thu. Giới hạn cần chủ động nói với khách: số GCN vi mô và doanh thu từng đơn vị PVI là ước tính. Danh mục đầy đủ 60 nguồn và sổ 88 tham số nằm trong Logic_Sinh_Du_Lieu.html; hỏi đáp đầy đủ trong HOI_DAP_TAI_SAO.md.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B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lvl1pPr indent="0" marL="0">
              <a:buNone/>
              <a:defRPr lang="en-US" sz="2000" dirty="0">
                <a:solidFill>
                  <a:srgbClr val="CFE3E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673"/>
                </a:solidFill>
              </a:rPr>
              <a:t>POC Doanh thu bảo hiểm · Logic sinh dữ liệu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vbpl.vn/van-ban/chi-tiet/luat-kinh-doanh-bao-hiem-so-08-2022-qh15--163515" TargetMode="External"/><Relationship Id="rId2" Type="http://schemas.openxmlformats.org/officeDocument/2006/relationships/hyperlink" Target="https://vbpl.vn/van-ban/chi-tiet/nghi-dinh-so-46-2023-nd-cp-quy-dinh-chi-tiet-thi-hanh-mot-so-dieu-cua-luat-kinh-doanh-bao-hiem--163441" TargetMode="External"/><Relationship Id="rId3" Type="http://schemas.openxmlformats.org/officeDocument/2006/relationships/hyperlink" Target="https://vbpl.vn/van-ban/chi-tiet/nghi-dinh-so-67-2023-nd-cp-quy-dinh-ve-bao-hiem-bat-buoc-trach-nhiem-dan-su-cua-chu-xe-co-gioi-bao-hiem-chay-no-bat-buoc-bao-hiem-bat-buoc-trong-hoat-dong-dau-tu-xay-dung--163442" TargetMode="External"/><Relationship Id="rId4" Type="http://schemas.openxmlformats.org/officeDocument/2006/relationships/hyperlink" Target="https://vbpl.vn/van-ban/chi-tiet/thong-tu-so-67-2023-tt-btc-huong-dan-mot-so-dieu-cua-luat-kinh-doanh-bao-hiem-nghi-dinh-so-46-2023-nd-cp-ngay-01-thang-7-nam-2023-cua-chinh-phu-quy-dinh-chi-tiet-thi-hanh-mot-so-dieu-cua-luat-kinh-doanh-bao-hiem--163439" TargetMode="External"/><Relationship Id="rId5" Type="http://schemas.openxmlformats.org/officeDocument/2006/relationships/hyperlink" Target="https://vbpl.vn/van-ban/chi-tiet/thong-tu-so-232-2012-tt-btc-huong-dan-ke-toan-ap-dung-doi-voi-doanh-nghiep-bao-hiem-phi-nhan-tho-doanh-nghiep-tai-bao-hiem-va-chi-nhanh-doanh-nghiep-bao-hiem-phi-nhan-tho-nuoc-ngoai--30429" TargetMode="External"/><Relationship Id="rId6" Type="http://schemas.openxmlformats.org/officeDocument/2006/relationships/hyperlink" Target="https://vbpl.vn/van-ban/chi-tiet/nghi-quyet-so-202-2025-qh15-ve-viec-sap-xep-don-vi-hanh-chinh-cap-tinh--179501" TargetMode="External"/><Relationship Id="rId7" Type="http://schemas.openxmlformats.org/officeDocument/2006/relationships/hyperlink" Target="https://adminweb.pvi.com.vn/wp-content/uploads/2026/05/2025Q4_Audited_FSs_En.pdf" TargetMode="External"/><Relationship Id="rId8" Type="http://schemas.openxmlformats.org/officeDocument/2006/relationships/hyperlink" Target="https://pviholdings.com.vn/admin/downloadFile?filePath=//pvi.com.vn/data/webho_upload/ce6f18e2-7a79-42f3-b6ab-2b79ea1e4077.pdf" TargetMode="External"/><Relationship Id="rId9" Type="http://schemas.openxmlformats.org/officeDocument/2006/relationships/hyperlink" Target="https://iav.vn/tong-quan,-so-lieu-thi-truong-bao-hiem/254773-254773-mot-so-hoat-dong-noi-bat-cua-thi-truong-bao-hiem-viet-nam-ca-nam-2024" TargetMode="External"/><Relationship Id="rId10" Type="http://schemas.openxmlformats.org/officeDocument/2006/relationships/hyperlink" Target="https://mof.gov.vn/quan-ly-giam-sat-bao-hiem/ban-tin-thi-truong-bao-hiem-toan-cau/ban-tin-thi-truong-bao-hiem-thang-12026" TargetMode="External"/><Relationship Id="rId11" Type="http://schemas.openxmlformats.org/officeDocument/2006/relationships/hyperlink" Target="https://thuvienphapluat.vn/van-ban/Tien-te-Ngan-hang/Thong-bao-7727-TB-KBNN-2024-ty-gia-hach-toan-ngoai-te-thang-01-nam-2025-641872.aspx" TargetMode="External"/><Relationship Id="rId12" Type="http://schemas.openxmlformats.org/officeDocument/2006/relationships/hyperlink" Target="https://static2.vietstock.vn/vietstock/2025/3/19/3_pvi_2025_3_19_fb26c59_en_annualreport_2024.pdf" TargetMode="External"/><Relationship Id="rId13" Type="http://schemas.openxmlformats.org/officeDocument/2006/relationships/hyperlink" Target="https://file.fpts.com.vn/FileStore2/File/2025/04/14/DuyenNTM14042025Bao_cao_dinh_gia_lan_dau_PVI_0bef673f.pdf" TargetMode="External"/><Relationship Id="rId14" Type="http://schemas.openxmlformats.org/officeDocument/2006/relationships/hyperlink" Target="https://pvn.vn/khoi-dau-vung-chac-bao-hiem-pvi-huong-toi-moc-doanh-thu-ty-do-la-my-nam-2025-28459" TargetMode="External"/><Relationship Id="rId15" Type="http://schemas.openxmlformats.org/officeDocument/2006/relationships/hyperlink" Target="https://online.pvi.com.vn/san-pham" TargetMode="External"/><Relationship Id="rId16" Type="http://schemas.openxmlformats.org/officeDocument/2006/relationships/hyperlink" Target="https://fireant.vn/bai-viet/nha-thau-trung-goi-bao-hiem-hon-500-ty-co-nang-luc-the-nao/29752615" TargetMode="External"/><Relationship Id="rId17" Type="http://schemas.openxmlformats.org/officeDocument/2006/relationships/hyperlink" Target="https://static2.vietstock.vn/vietstock/2025/4/22/20250422_bvh_250422_integrated_report_2024.pdf" TargetMode="External"/><Relationship Id="rId18" Type="http://schemas.openxmlformats.org/officeDocument/2006/relationships/hyperlink" Target="https://dutangc.github.io/CASdatasets/reference/freMTPL.html" TargetMode="External"/><Relationship Id="rId19" Type="http://schemas.openxmlformats.org/officeDocument/2006/relationships/hyperlink" Target="https://www.kaggle.com/datasets/mhdzahier/travel-insurance" TargetMode="External"/><Relationship Id="rId20" Type="http://schemas.openxmlformats.org/officeDocument/2006/relationships/hyperlink" Target="https://www.casact.org/publications-research/research/research-resources/loss-reserving-data-pulled-naic-schedule-p" TargetMode="External"/><Relationship Id="rId21" Type="http://schemas.openxmlformats.org/officeDocument/2006/relationships/hyperlink" Target="https://github.com/synthetichealth/synthea/wiki/CSV-File-Data-Dictionary" TargetMode="External"/><Relationship Id="rId22" Type="http://schemas.openxmlformats.org/officeDocument/2006/relationships/hyperlink" Target="https://learn.microsoft.com/en-us/common-data-model/schema/core/industrycommon/financialservices/propertyandcasualtydatamodel/overview" TargetMode="External"/><Relationship Id="rId23" Type="http://schemas.openxmlformats.org/officeDocument/2006/relationships/hyperlink" Target="https://www.legislation.gov.uk/eur/2015/35/annex/I/adopted" TargetMode="External"/><Relationship Id="rId24" Type="http://schemas.openxmlformats.org/officeDocument/2006/relationships/hyperlink" Target="https://www.pvi.com.vn/vi/network" TargetMode="External"/><Relationship Id="rId25" Type="http://schemas.openxmlformats.org/officeDocument/2006/relationships/hyperlink" Target="https://cdn.24hmoney.vn/upload/file/2025-1/2025-03-22/no-name-1742584373.pdf" TargetMode="External"/><Relationship Id="rId26" Type="http://schemas.openxmlformats.org/officeDocument/2006/relationships/hyperlink" Target="https://www.pviholdings.com.vn/admin/downloadFile?filePath=//pvi.com.vn/data/webho_upload/4f50f1c9-9092-4e0e-b128-1bcfc18922d2.pdf" TargetMode="External"/><Relationship Id="rId27" Type="http://schemas.openxmlformats.org/officeDocument/2006/relationships/hyperlink" Target="https://www.pvi.com.vn/vi/news/pvi-thu-do-va-pvi-thang-long-hai-don-vi-tiep-theo-duoc-vinh-danh-hoan-thanh-som-ke-hoach-kinh-doanh-nam-2025" TargetMode="External"/><Relationship Id="rId28" Type="http://schemas.openxmlformats.org/officeDocument/2006/relationships/hyperlink" Target="https://www.greensm.com/vn-vi/bao-hiem-khach-hang" TargetMode="External"/><Relationship Id="rId29" Type="http://schemas.openxmlformats.org/officeDocument/2006/relationships/hyperlink" Target="https://www.pvi.com.vn/vi/news/bao-hiem-pvi-ra-mat-delaycare-giai-phap-bao-hiem-tre-chuyen-bay-danh-cho-hanh-khach" TargetMode="External"/><Relationship Id="rId30" Type="http://schemas.openxmlformats.org/officeDocument/2006/relationships/hyperlink" Target="https://fhsc.com.vn/co-ca-tram-nghin-xe-chay-tren-duong-day-la-so-cuoc-ma-xanh-sm-nhan-moi-ngay-tai-viet-nam" TargetMode="External"/><Relationship Id="rId31" Type="http://schemas.openxmlformats.org/officeDocument/2006/relationships/hyperlink" Target="https://www.tinnhanhchungkhoan.vn/bao-hiem-so-don-tin-vui-tu-xe-cong-nghe-post352383.html" TargetMode="External"/><Relationship Id="rId32" Type="http://schemas.openxmlformats.org/officeDocument/2006/relationships/slideLayout" Target="../slideLayouts/slideLayout3.xml"/><Relationship Id="rId3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Sinh dữ liệu nguồn cho POC Doanh thu bảo hiểm</a:t>
            </a:r>
            <a:endParaRPr lang="en-US" sz="4400" dirty="0"/>
          </a:p>
        </p:txBody>
      </p:sp>
      <p:sp>
        <p:nvSpPr>
          <p:cNvPr id="3" name="Text 0"/>
          <p:cNvSpPr/>
          <p:nvPr>
            <p:ph idx="101" type="body" hasCustomPrompt="1"/>
          </p:nvPr>
        </p:nvSpPr>
        <p:spPr>
          <a:xfrm>
            <a:off x="731520" y="3657600"/>
            <a:ext cx="10698480" cy="1097280"/>
          </a:xfrm>
          <a:prstGeom prst="rect">
            <a:avLst/>
          </a:prstGeom>
          <a:noFill/>
          <a:ln/>
        </p:spPr>
        <p:txBody>
          <a:bodyPr wrap="square" lIns="0" tIns="0" rIns="0" bIns="0" rtlCol="0" anchor="t"/>
          <a:lstStyle/>
          <a:p>
            <a:pPr indent="0" marL="0">
              <a:buNone/>
            </a:pPr>
            <a:r>
              <a:rPr lang="en-US" sz="2000" dirty="0">
                <a:solidFill>
                  <a:srgbClr val="CFE3E3"/>
                </a:solidFill>
              </a:rPr>
              <a:t>Tổng Công ty Bảo hiểm PVI · 47 đơn vị · danh mục, giao dịch và căn cứ của từng con số</a:t>
            </a:r>
            <a:endParaRPr lang="en-US" sz="2000" dirty="0"/>
          </a:p>
          <a:p>
            <a:pPr indent="0" marL="0">
              <a:buNone/>
            </a:pPr>
            <a:r>
              <a:rPr lang="en-US" sz="2000" dirty="0">
                <a:solidFill>
                  <a:srgbClr val="CFE3E3"/>
                </a:solidFill>
              </a:rPr>
              <a:t>Dữ liệu trên reportapi (bronze.ins_*), tháng 8–9/2026 — đúng quy mô doanh thu PVI</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Nguồn research: dùng nguồn nào, cho việc gì</a:t>
            </a:r>
            <a:endParaRPr lang="en-US" sz="3000" dirty="0"/>
          </a:p>
        </p:txBody>
      </p:sp>
      <p:sp>
        <p:nvSpPr>
          <p:cNvPr id="4" name="card"/>
          <p:cNvSpPr/>
          <p:nvPr/>
        </p:nvSpPr>
        <p:spPr>
          <a:xfrm>
            <a:off x="548640" y="1188720"/>
            <a:ext cx="2121408" cy="5029200"/>
          </a:xfrm>
          <a:prstGeom prst="roundRect">
            <a:avLst>
              <a:gd name="adj" fmla="val 517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Văn bản pháp luật"/>
          <p:cNvSpPr/>
          <p:nvPr/>
        </p:nvSpPr>
        <p:spPr>
          <a:xfrm>
            <a:off x="640080" y="1280160"/>
            <a:ext cx="1938528" cy="658368"/>
          </a:xfrm>
          <a:prstGeom prst="roundRect">
            <a:avLst>
              <a:gd name="adj" fmla="val 11111"/>
            </a:avLst>
          </a:prstGeom>
          <a:solidFill>
            <a:schemeClr val="accent4"/>
          </a:solidFill>
          <a:ln w="12700">
            <a:solidFill>
              <a:schemeClr val="accent4"/>
            </a:solidFill>
            <a:prstDash val="solid"/>
          </a:ln>
        </p:spPr>
      </p:sp>
      <p:sp>
        <p:nvSpPr>
          <p:cNvPr id="6" name="Text 3"/>
          <p:cNvSpPr txBox="1"/>
          <p:nvPr/>
        </p:nvSpPr>
        <p:spPr>
          <a:xfrm>
            <a:off x="713232" y="1280160"/>
            <a:ext cx="1792224" cy="658368"/>
          </a:xfrm>
          <a:prstGeom prst="rect">
            <a:avLst/>
          </a:prstGeom>
          <a:noFill/>
          <a:ln/>
        </p:spPr>
        <p:txBody>
          <a:bodyPr wrap="square" lIns="0" tIns="0" rIns="0" bIns="0" rtlCol="0" anchor="ctr"/>
          <a:lstStyle/>
          <a:p>
            <a:pPr indent="0" marL="0">
              <a:buNone/>
            </a:pPr>
            <a:r>
              <a:rPr lang="en-US" sz="1200" b="1" dirty="0">
                <a:solidFill>
                  <a:schemeClr val="bg1"/>
                </a:solidFill>
              </a:rPr>
              <a:t>Văn bản pháp luật</a:t>
            </a:r>
            <a:endParaRPr lang="en-US" sz="1500" dirty="0"/>
          </a:p>
          <a:p>
            <a:pPr indent="0" marL="0">
              <a:buNone/>
            </a:pPr>
            <a:r>
              <a:rPr lang="en-US" sz="950" dirty="0">
                <a:solidFill>
                  <a:schemeClr val="bg1"/>
                </a:solidFill>
              </a:rPr>
              <a:t>khung nghiệp vụ</a:t>
            </a:r>
            <a:endParaRPr lang="en-US" sz="1500" dirty="0"/>
          </a:p>
        </p:txBody>
      </p:sp>
      <p:sp>
        <p:nvSpPr>
          <p:cNvPr id="7" name="Text 4"/>
          <p:cNvSpPr txBox="1"/>
          <p:nvPr/>
        </p:nvSpPr>
        <p:spPr>
          <a:xfrm>
            <a:off x="676656" y="2029968"/>
            <a:ext cx="1883664" cy="4114800"/>
          </a:xfrm>
          <a:prstGeom prst="rect">
            <a:avLst/>
          </a:prstGeom>
          <a:noFill/>
          <a:ln/>
        </p:spPr>
        <p:txBody>
          <a:bodyPr wrap="square" lIns="0" tIns="0" rIns="0" bIns="0" rtlCol="0" anchor="t"/>
          <a:lstStyle/>
          <a:p>
            <a:pPr indent="0" marL="0">
              <a:buNone/>
            </a:pPr>
            <a:r>
              <a:rPr lang="en-US" sz="1050" b="1" u="sng" dirty="0">
                <a:solidFill>
                  <a:srgbClr val="0F6E75"/>
                </a:solidFill>
                <a:hlinkClick r:id="rId1" invalidUrl="" action="" tgtFrame="" tooltip="" history="1" highlightClick="0" endSnd="0">
                  <a:extLst>
                    <a:ext uri="{A12FA001-AC4F-418D-AE19-62706E023703}">
                      <ahyp:hlinkClr xmlns:ahyp="http://schemas.microsoft.com/office/drawing/2018/hyperlinkcolor" val="tx"/>
                    </a:ext>
                  </a:extLst>
                </a:hlinkClick>
              </a:rPr>
              <a:t>Luật KDBH 2022</a:t>
            </a:r>
            <a:endParaRPr lang="en-US" sz="1500" dirty="0"/>
          </a:p>
          <a:p>
            <a:pPr indent="0" marL="0">
              <a:spcAft>
                <a:spcPts val="400"/>
              </a:spcAft>
              <a:buNone/>
            </a:pPr>
            <a:r>
              <a:rPr lang="en-US" sz="950" dirty="0">
                <a:solidFill>
                  <a:srgbClr val="4A5560"/>
                </a:solidFill>
              </a:rPr>
              <a:t>nghiệp vụ, kênh, đồng bảo hiểm</a:t>
            </a:r>
            <a:endParaRPr lang="en-US" sz="1500" dirty="0"/>
          </a:p>
          <a:p>
            <a:pPr indent="0" marL="0">
              <a:buNone/>
            </a:pPr>
            <a:r>
              <a:rPr lang="en-US" sz="1050" b="1" u="sng" dirty="0">
                <a:solidFill>
                  <a:srgbClr val="0F6E75"/>
                </a:solidFill>
                <a:hlinkClick r:id="rId2" invalidUrl="" action="" tgtFrame="" tooltip="" history="1" highlightClick="0" endSnd="0">
                  <a:extLst>
                    <a:ext uri="{A12FA001-AC4F-418D-AE19-62706E023703}">
                      <ahyp:hlinkClr xmlns:ahyp="http://schemas.microsoft.com/office/drawing/2018/hyperlinkcolor" val="tx"/>
                    </a:ext>
                  </a:extLst>
                </a:hlinkClick>
              </a:rPr>
              <a:t>NĐ 46/2023</a:t>
            </a:r>
            <a:endParaRPr lang="en-US" sz="1500" dirty="0"/>
          </a:p>
          <a:p>
            <a:pPr indent="0" marL="0">
              <a:spcAft>
                <a:spcPts val="400"/>
              </a:spcAft>
              <a:buNone/>
            </a:pPr>
            <a:r>
              <a:rPr lang="en-US" sz="950" dirty="0">
                <a:solidFill>
                  <a:srgbClr val="4A5560"/>
                </a:solidFill>
              </a:rPr>
              <a:t>nghiệp vụ; hoàn, giảm phí là giảm thu</a:t>
            </a:r>
            <a:endParaRPr lang="en-US" sz="1500" dirty="0"/>
          </a:p>
          <a:p>
            <a:pPr indent="0" marL="0">
              <a:buNone/>
            </a:pPr>
            <a:r>
              <a:rPr lang="en-US" sz="1050" b="1" u="sng" dirty="0">
                <a:solidFill>
                  <a:srgbClr val="0F6E75"/>
                </a:solidFill>
                <a:hlinkClick r:id="rId3" invalidUrl="" action="" tgtFrame="" tooltip="" history="1" highlightClick="0" endSnd="0">
                  <a:extLst>
                    <a:ext uri="{A12FA001-AC4F-418D-AE19-62706E023703}">
                      <ahyp:hlinkClr xmlns:ahyp="http://schemas.microsoft.com/office/drawing/2018/hyperlinkcolor" val="tx"/>
                    </a:ext>
                  </a:extLst>
                </a:hlinkClick>
              </a:rPr>
              <a:t>NĐ 67/2023</a:t>
            </a:r>
            <a:endParaRPr lang="en-US" sz="1500" dirty="0"/>
          </a:p>
          <a:p>
            <a:pPr indent="0" marL="0">
              <a:spcAft>
                <a:spcPts val="400"/>
              </a:spcAft>
              <a:buNone/>
            </a:pPr>
            <a:r>
              <a:rPr lang="en-US" sz="950" dirty="0">
                <a:solidFill>
                  <a:srgbClr val="4A5560"/>
                </a:solidFill>
              </a:rPr>
              <a:t>biểu phí TNDS, phí cháy nổ bắt buộc</a:t>
            </a:r>
            <a:endParaRPr lang="en-US" sz="1500" dirty="0"/>
          </a:p>
          <a:p>
            <a:pPr indent="0" marL="0">
              <a:buNone/>
            </a:pPr>
            <a:r>
              <a:rPr lang="en-US" sz="1050" b="1" u="sng" dirty="0">
                <a:solidFill>
                  <a:srgbClr val="0F6E75"/>
                </a:solidFill>
                <a:hlinkClick r:id="rId4" invalidUrl="" action="" tgtFrame="" tooltip="" history="1" highlightClick="0" endSnd="0">
                  <a:extLst>
                    <a:ext uri="{A12FA001-AC4F-418D-AE19-62706E023703}">
                      <ahyp:hlinkClr xmlns:ahyp="http://schemas.microsoft.com/office/drawing/2018/hyperlinkcolor" val="tx"/>
                    </a:ext>
                  </a:extLst>
                </a:hlinkClick>
              </a:rPr>
              <a:t>TT 67/2023</a:t>
            </a:r>
            <a:endParaRPr lang="en-US" sz="1500" dirty="0"/>
          </a:p>
          <a:p>
            <a:pPr indent="0" marL="0">
              <a:spcAft>
                <a:spcPts val="400"/>
              </a:spcAft>
              <a:buNone/>
            </a:pPr>
            <a:r>
              <a:rPr lang="en-US" sz="950" dirty="0">
                <a:solidFill>
                  <a:srgbClr val="4A5560"/>
                </a:solidFill>
              </a:rPr>
              <a:t>ghi nhận doanh thu, mẫu báo cáo</a:t>
            </a:r>
            <a:endParaRPr lang="en-US" sz="1500" dirty="0"/>
          </a:p>
          <a:p>
            <a:pPr indent="0" marL="0">
              <a:buNone/>
            </a:pPr>
            <a:r>
              <a:rPr lang="en-US" sz="1050" b="1" u="sng" dirty="0">
                <a:solidFill>
                  <a:srgbClr val="0F6E75"/>
                </a:solidFill>
                <a:hlinkClick r:id="rId5" invalidUrl="" action="" tgtFrame="" tooltip="" history="1" highlightClick="0" endSnd="0">
                  <a:extLst>
                    <a:ext uri="{A12FA001-AC4F-418D-AE19-62706E023703}">
                      <ahyp:hlinkClr xmlns:ahyp="http://schemas.microsoft.com/office/drawing/2018/hyperlinkcolor" val="tx"/>
                    </a:ext>
                  </a:extLst>
                </a:hlinkClick>
              </a:rPr>
              <a:t>TT 232/2012</a:t>
            </a:r>
            <a:endParaRPr lang="en-US" sz="1500" dirty="0"/>
          </a:p>
          <a:p>
            <a:pPr indent="0" marL="0">
              <a:spcAft>
                <a:spcPts val="400"/>
              </a:spcAft>
              <a:buNone/>
            </a:pPr>
            <a:r>
              <a:rPr lang="en-US" sz="950" dirty="0">
                <a:solidFill>
                  <a:srgbClr val="4A5560"/>
                </a:solidFill>
              </a:rPr>
              <a:t>tài khoản doanh thu, đồng BH</a:t>
            </a:r>
            <a:endParaRPr lang="en-US" sz="1500" dirty="0"/>
          </a:p>
          <a:p>
            <a:pPr indent="0" marL="0">
              <a:buNone/>
            </a:pPr>
            <a:r>
              <a:rPr lang="en-US" sz="1050" b="1" u="sng" dirty="0">
                <a:solidFill>
                  <a:srgbClr val="0F6E75"/>
                </a:solidFill>
                <a:hlinkClick r:id="rId6" invalidUrl="" action="" tgtFrame="" tooltip="" history="1" highlightClick="0" endSnd="0">
                  <a:extLst>
                    <a:ext uri="{A12FA001-AC4F-418D-AE19-62706E023703}">
                      <ahyp:hlinkClr xmlns:ahyp="http://schemas.microsoft.com/office/drawing/2018/hyperlinkcolor" val="tx"/>
                    </a:ext>
                  </a:extLst>
                </a:hlinkClick>
              </a:rPr>
              <a:t>NQ 202/2025 · Luật GTGT</a:t>
            </a:r>
            <a:endParaRPr lang="en-US" sz="1500" dirty="0"/>
          </a:p>
          <a:p>
            <a:pPr indent="0" marL="0">
              <a:spcAft>
                <a:spcPts val="400"/>
              </a:spcAft>
              <a:buNone/>
            </a:pPr>
            <a:r>
              <a:rPr lang="en-US" sz="950" dirty="0">
                <a:solidFill>
                  <a:srgbClr val="4A5560"/>
                </a:solidFill>
              </a:rPr>
              <a:t>34 tỉnh; VAT 0% bảo hiểm con người</a:t>
            </a:r>
            <a:endParaRPr lang="en-US" sz="1500" dirty="0"/>
          </a:p>
        </p:txBody>
      </p:sp>
      <p:sp>
        <p:nvSpPr>
          <p:cNvPr id="8" name="card"/>
          <p:cNvSpPr/>
          <p:nvPr/>
        </p:nvSpPr>
        <p:spPr>
          <a:xfrm>
            <a:off x="2779776" y="1188720"/>
            <a:ext cx="2121408" cy="5029200"/>
          </a:xfrm>
          <a:prstGeom prst="roundRect">
            <a:avLst>
              <a:gd name="adj" fmla="val 517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ố liệu công bố"/>
          <p:cNvSpPr/>
          <p:nvPr/>
        </p:nvSpPr>
        <p:spPr>
          <a:xfrm>
            <a:off x="2871216" y="1280160"/>
            <a:ext cx="1938528" cy="658368"/>
          </a:xfrm>
          <a:prstGeom prst="roundRect">
            <a:avLst>
              <a:gd name="adj" fmla="val 11111"/>
            </a:avLst>
          </a:prstGeom>
          <a:solidFill>
            <a:schemeClr val="accent3"/>
          </a:solidFill>
          <a:ln w="12700">
            <a:solidFill>
              <a:schemeClr val="accent3"/>
            </a:solidFill>
            <a:prstDash val="solid"/>
          </a:ln>
        </p:spPr>
      </p:sp>
      <p:sp>
        <p:nvSpPr>
          <p:cNvPr id="10" name="Text 7"/>
          <p:cNvSpPr txBox="1"/>
          <p:nvPr/>
        </p:nvSpPr>
        <p:spPr>
          <a:xfrm>
            <a:off x="2944368" y="1280160"/>
            <a:ext cx="1792224" cy="658368"/>
          </a:xfrm>
          <a:prstGeom prst="rect">
            <a:avLst/>
          </a:prstGeom>
          <a:noFill/>
          <a:ln/>
        </p:spPr>
        <p:txBody>
          <a:bodyPr wrap="square" lIns="0" tIns="0" rIns="0" bIns="0" rtlCol="0" anchor="ctr"/>
          <a:lstStyle/>
          <a:p>
            <a:pPr indent="0" marL="0">
              <a:buNone/>
            </a:pPr>
            <a:r>
              <a:rPr lang="en-US" sz="1200" b="1" dirty="0">
                <a:solidFill>
                  <a:schemeClr val="bg1"/>
                </a:solidFill>
              </a:rPr>
              <a:t>Số liệu công bố</a:t>
            </a:r>
            <a:endParaRPr lang="en-US" sz="1500" dirty="0"/>
          </a:p>
          <a:p>
            <a:pPr indent="0" marL="0">
              <a:buNone/>
            </a:pPr>
            <a:r>
              <a:rPr lang="en-US" sz="950" dirty="0">
                <a:solidFill>
                  <a:schemeClr val="bg1"/>
                </a:solidFill>
              </a:rPr>
              <a:t>quy mô, cơ cấu, mùa vụ</a:t>
            </a:r>
            <a:endParaRPr lang="en-US" sz="1500" dirty="0"/>
          </a:p>
        </p:txBody>
      </p:sp>
      <p:sp>
        <p:nvSpPr>
          <p:cNvPr id="11" name="Text 8"/>
          <p:cNvSpPr txBox="1"/>
          <p:nvPr/>
        </p:nvSpPr>
        <p:spPr>
          <a:xfrm>
            <a:off x="2907792" y="2029968"/>
            <a:ext cx="1883664" cy="4114800"/>
          </a:xfrm>
          <a:prstGeom prst="rect">
            <a:avLst/>
          </a:prstGeom>
          <a:noFill/>
          <a:ln/>
        </p:spPr>
        <p:txBody>
          <a:bodyPr wrap="square" lIns="0" tIns="0" rIns="0" bIns="0" rtlCol="0" anchor="t"/>
          <a:lstStyle/>
          <a:p>
            <a:pPr indent="0" marL="0">
              <a:buNone/>
            </a:pPr>
            <a:r>
              <a:rPr lang="en-US" sz="1050" b="1" u="sng" dirty="0">
                <a:solidFill>
                  <a:srgbClr val="0F6E75"/>
                </a:solidFill>
                <a:hlinkClick r:id="rId7" invalidUrl="" action="" tgtFrame="" tooltip="" history="1" highlightClick="0" endSnd="0">
                  <a:extLst>
                    <a:ext uri="{A12FA001-AC4F-418D-AE19-62706E023703}">
                      <ahyp:hlinkClr xmlns:ahyp="http://schemas.microsoft.com/office/drawing/2018/hyperlinkcolor" val="tx"/>
                    </a:ext>
                  </a:extLst>
                </a:hlinkClick>
              </a:rPr>
              <a:t>BCTC kiểm toán PVI 2025 — tr. 45</a:t>
            </a:r>
            <a:endParaRPr lang="en-US" sz="1500" dirty="0"/>
          </a:p>
          <a:p>
            <a:pPr indent="0" marL="0">
              <a:spcAft>
                <a:spcPts val="400"/>
              </a:spcAft>
              <a:buNone/>
            </a:pPr>
            <a:r>
              <a:rPr lang="en-US" sz="950" dirty="0">
                <a:solidFill>
                  <a:srgbClr val="4A5560"/>
                </a:solidFill>
              </a:rPr>
              <a:t>phí gốc theo nghiệp vụ → mục tiêu doanh thu</a:t>
            </a:r>
            <a:endParaRPr lang="en-US" sz="1500" dirty="0"/>
          </a:p>
          <a:p>
            <a:pPr indent="0" marL="0">
              <a:buNone/>
            </a:pPr>
            <a:r>
              <a:rPr lang="en-US" sz="1050" b="1" u="sng" dirty="0">
                <a:solidFill>
                  <a:srgbClr val="0F6E75"/>
                </a:solidFill>
                <a:hlinkClick r:id="rId8" invalidUrl="" action="" tgtFrame="" tooltip="" history="1" highlightClick="0" endSnd="0">
                  <a:extLst>
                    <a:ext uri="{A12FA001-AC4F-418D-AE19-62706E023703}">
                      <ahyp:hlinkClr xmlns:ahyp="http://schemas.microsoft.com/office/drawing/2018/hyperlinkcolor" val="tx"/>
                    </a:ext>
                  </a:extLst>
                </a:hlinkClick>
              </a:rPr>
              <a:t>BCTC quý PVI Holdings — tr. 31</a:t>
            </a:r>
            <a:endParaRPr lang="en-US" sz="1500" dirty="0"/>
          </a:p>
          <a:p>
            <a:pPr indent="0" marL="0">
              <a:spcAft>
                <a:spcPts val="400"/>
              </a:spcAft>
              <a:buNone/>
            </a:pPr>
            <a:r>
              <a:rPr lang="en-US" sz="950" dirty="0">
                <a:solidFill>
                  <a:srgbClr val="4A5560"/>
                </a:solidFill>
              </a:rPr>
              <a:t>phí gốc theo quý → mùa vụ</a:t>
            </a:r>
            <a:endParaRPr lang="en-US" sz="1500" dirty="0"/>
          </a:p>
          <a:p>
            <a:pPr indent="0" marL="0">
              <a:buNone/>
            </a:pPr>
            <a:r>
              <a:rPr lang="en-US" sz="1050" b="1" u="sng" dirty="0">
                <a:solidFill>
                  <a:srgbClr val="0F6E75"/>
                </a:solidFill>
                <a:hlinkClick r:id="rId9" invalidUrl="" action="" tgtFrame="" tooltip="" history="1" highlightClick="0" endSnd="0">
                  <a:extLst>
                    <a:ext uri="{A12FA001-AC4F-418D-AE19-62706E023703}">
                      <ahyp:hlinkClr xmlns:ahyp="http://schemas.microsoft.com/office/drawing/2018/hyperlinkcolor" val="tx"/>
                    </a:ext>
                  </a:extLst>
                </a:hlinkClick>
              </a:rPr>
              <a:t>IAV — thị trường 2024</a:t>
            </a:r>
            <a:endParaRPr lang="en-US" sz="1500" dirty="0"/>
          </a:p>
          <a:p>
            <a:pPr indent="0" marL="0">
              <a:spcAft>
                <a:spcPts val="400"/>
              </a:spcAft>
              <a:buNone/>
            </a:pPr>
            <a:r>
              <a:rPr lang="en-US" sz="950" dirty="0">
                <a:solidFill>
                  <a:srgbClr val="4A5560"/>
                </a:solidFill>
              </a:rPr>
              <a:t>tỷ lệ TNDS / vật chất xe</a:t>
            </a:r>
            <a:endParaRPr lang="en-US" sz="1500" dirty="0"/>
          </a:p>
          <a:p>
            <a:pPr indent="0" marL="0">
              <a:buNone/>
            </a:pPr>
            <a:r>
              <a:rPr lang="en-US" sz="1050" b="1" u="sng" dirty="0">
                <a:solidFill>
                  <a:srgbClr val="0F6E75"/>
                </a:solidFill>
                <a:hlinkClick r:id="rId10" invalidUrl="" action="" tgtFrame="" tooltip="" history="1" highlightClick="0" endSnd="0">
                  <a:extLst>
                    <a:ext uri="{A12FA001-AC4F-418D-AE19-62706E023703}">
                      <ahyp:hlinkClr xmlns:ahyp="http://schemas.microsoft.com/office/drawing/2018/hyperlinkcolor" val="tx"/>
                    </a:ext>
                  </a:extLst>
                </a:hlinkClick>
              </a:rPr>
              <a:t>Bộ Tài chính — bản tin 01/2026</a:t>
            </a:r>
            <a:endParaRPr lang="en-US" sz="1500" dirty="0"/>
          </a:p>
          <a:p>
            <a:pPr indent="0" marL="0">
              <a:spcAft>
                <a:spcPts val="400"/>
              </a:spcAft>
              <a:buNone/>
            </a:pPr>
            <a:r>
              <a:rPr lang="en-US" sz="950" dirty="0">
                <a:solidFill>
                  <a:srgbClr val="4A5560"/>
                </a:solidFill>
              </a:rPr>
              <a:t>thị phần PVI 16,93%; môi giới 13,5%</a:t>
            </a:r>
            <a:endParaRPr lang="en-US" sz="1500" dirty="0"/>
          </a:p>
          <a:p>
            <a:pPr indent="0" marL="0">
              <a:buNone/>
            </a:pPr>
            <a:r>
              <a:rPr lang="en-US" sz="1050" b="1" u="sng" dirty="0">
                <a:solidFill>
                  <a:srgbClr val="0F6E75"/>
                </a:solidFill>
                <a:hlinkClick r:id="rId11" invalidUrl="" action="" tgtFrame="" tooltip="" history="1" highlightClick="0" endSnd="0">
                  <a:extLst>
                    <a:ext uri="{A12FA001-AC4F-418D-AE19-62706E023703}">
                      <ahyp:hlinkClr xmlns:ahyp="http://schemas.microsoft.com/office/drawing/2018/hyperlinkcolor" val="tx"/>
                    </a:ext>
                  </a:extLst>
                </a:hlinkClick>
              </a:rPr>
              <a:t>KBNN — tỷ giá hạch toán</a:t>
            </a:r>
            <a:endParaRPr lang="en-US" sz="1500" dirty="0"/>
          </a:p>
          <a:p>
            <a:pPr indent="0" marL="0">
              <a:spcAft>
                <a:spcPts val="400"/>
              </a:spcAft>
              <a:buNone/>
            </a:pPr>
            <a:r>
              <a:rPr lang="en-US" sz="950" dirty="0">
                <a:solidFill>
                  <a:srgbClr val="4A5560"/>
                </a:solidFill>
              </a:rPr>
              <a:t>tỷ giá USD theo tháng</a:t>
            </a:r>
            <a:endParaRPr lang="en-US" sz="1500" dirty="0"/>
          </a:p>
        </p:txBody>
      </p:sp>
      <p:sp>
        <p:nvSpPr>
          <p:cNvPr id="12" name="card"/>
          <p:cNvSpPr/>
          <p:nvPr/>
        </p:nvSpPr>
        <p:spPr>
          <a:xfrm>
            <a:off x="5010912" y="1188720"/>
            <a:ext cx="2121408" cy="5029200"/>
          </a:xfrm>
          <a:prstGeom prst="roundRect">
            <a:avLst>
              <a:gd name="adj" fmla="val 517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hông tin công khai"/>
          <p:cNvSpPr/>
          <p:nvPr/>
        </p:nvSpPr>
        <p:spPr>
          <a:xfrm>
            <a:off x="5102352" y="1280160"/>
            <a:ext cx="1938528" cy="658368"/>
          </a:xfrm>
          <a:prstGeom prst="roundRect">
            <a:avLst>
              <a:gd name="adj" fmla="val 11111"/>
            </a:avLst>
          </a:prstGeom>
          <a:solidFill>
            <a:schemeClr val="accent1"/>
          </a:solidFill>
          <a:ln w="12700">
            <a:solidFill>
              <a:schemeClr val="accent1"/>
            </a:solidFill>
            <a:prstDash val="solid"/>
          </a:ln>
        </p:spPr>
      </p:sp>
      <p:sp>
        <p:nvSpPr>
          <p:cNvPr id="14" name="Text 11"/>
          <p:cNvSpPr txBox="1"/>
          <p:nvPr/>
        </p:nvSpPr>
        <p:spPr>
          <a:xfrm>
            <a:off x="5175504" y="1280160"/>
            <a:ext cx="1792224" cy="658368"/>
          </a:xfrm>
          <a:prstGeom prst="rect">
            <a:avLst/>
          </a:prstGeom>
          <a:noFill/>
          <a:ln/>
        </p:spPr>
        <p:txBody>
          <a:bodyPr wrap="square" lIns="0" tIns="0" rIns="0" bIns="0" rtlCol="0" anchor="ctr"/>
          <a:lstStyle/>
          <a:p>
            <a:pPr indent="0" marL="0">
              <a:buNone/>
            </a:pPr>
            <a:r>
              <a:rPr lang="en-US" sz="1200" b="1" dirty="0">
                <a:solidFill>
                  <a:schemeClr val="bg1"/>
                </a:solidFill>
              </a:rPr>
              <a:t>Thông tin công khai</a:t>
            </a:r>
            <a:endParaRPr lang="en-US" sz="1500" dirty="0"/>
          </a:p>
          <a:p>
            <a:pPr indent="0" marL="0">
              <a:buNone/>
            </a:pPr>
            <a:r>
              <a:rPr lang="en-US" sz="950" dirty="0">
                <a:solidFill>
                  <a:schemeClr val="bg1"/>
                </a:solidFill>
              </a:rPr>
              <a:t>định hướng tỷ lệ, giá</a:t>
            </a:r>
            <a:endParaRPr lang="en-US" sz="1500" dirty="0"/>
          </a:p>
        </p:txBody>
      </p:sp>
      <p:sp>
        <p:nvSpPr>
          <p:cNvPr id="15" name="Text 12"/>
          <p:cNvSpPr txBox="1"/>
          <p:nvPr/>
        </p:nvSpPr>
        <p:spPr>
          <a:xfrm>
            <a:off x="5138928" y="2029968"/>
            <a:ext cx="1883664" cy="4114800"/>
          </a:xfrm>
          <a:prstGeom prst="rect">
            <a:avLst/>
          </a:prstGeom>
          <a:noFill/>
          <a:ln/>
        </p:spPr>
        <p:txBody>
          <a:bodyPr wrap="square" lIns="0" tIns="0" rIns="0" bIns="0" rtlCol="0" anchor="t"/>
          <a:lstStyle/>
          <a:p>
            <a:pPr indent="0" marL="0">
              <a:buNone/>
            </a:pPr>
            <a:r>
              <a:rPr lang="en-US" sz="1050" b="1" u="sng" dirty="0">
                <a:solidFill>
                  <a:srgbClr val="0F6E75"/>
                </a:solidFill>
                <a:hlinkClick r:id="rId12" invalidUrl="" action="" tgtFrame="" tooltip="" history="1" highlightClick="0" endSnd="0">
                  <a:extLst>
                    <a:ext uri="{A12FA001-AC4F-418D-AE19-62706E023703}">
                      <ahyp:hlinkClr xmlns:ahyp="http://schemas.microsoft.com/office/drawing/2018/hyperlinkcolor" val="tx"/>
                    </a:ext>
                  </a:extLst>
                </a:hlinkClick>
              </a:rPr>
              <a:t>BCTN PVI 2024 — tr. 6, 29, 57</a:t>
            </a:r>
            <a:endParaRPr lang="en-US" sz="1500" dirty="0"/>
          </a:p>
          <a:p>
            <a:pPr indent="0" marL="0">
              <a:spcAft>
                <a:spcPts val="400"/>
              </a:spcAft>
              <a:buNone/>
            </a:pPr>
            <a:r>
              <a:rPr lang="en-US" sz="950" dirty="0">
                <a:solidFill>
                  <a:srgbClr val="4A5560"/>
                </a:solidFill>
              </a:rPr>
              <a:t>TMĐT ≈ 800 tỷ, 30 chương trình API; nghiệp vụ năng lượng</a:t>
            </a:r>
            <a:endParaRPr lang="en-US" sz="1500" dirty="0"/>
          </a:p>
          <a:p>
            <a:pPr indent="0" marL="0">
              <a:buNone/>
            </a:pPr>
            <a:r>
              <a:rPr lang="en-US" sz="1050" b="1" u="sng" dirty="0">
                <a:solidFill>
                  <a:srgbClr val="0F6E75"/>
                </a:solidFill>
                <a:hlinkClick r:id="rId13" invalidUrl="" action="" tgtFrame="" tooltip="" history="1" highlightClick="0" endSnd="0">
                  <a:extLst>
                    <a:ext uri="{A12FA001-AC4F-418D-AE19-62706E023703}">
                      <ahyp:hlinkClr xmlns:ahyp="http://schemas.microsoft.com/office/drawing/2018/hyperlinkcolor" val="tx"/>
                    </a:ext>
                  </a:extLst>
                </a:hlinkClick>
              </a:rPr>
              <a:t>FPTS định giá PVI — tr. 7, 13–15</a:t>
            </a:r>
            <a:endParaRPr lang="en-US" sz="1500" dirty="0"/>
          </a:p>
          <a:p>
            <a:pPr indent="0" marL="0">
              <a:spcAft>
                <a:spcPts val="400"/>
              </a:spcAft>
              <a:buNone/>
            </a:pPr>
            <a:r>
              <a:rPr lang="en-US" sz="950" dirty="0">
                <a:solidFill>
                  <a:srgbClr val="4A5560"/>
                </a:solidFill>
              </a:rPr>
              <a:t>con người PVI tập trung khách doanh nghiệp</a:t>
            </a:r>
            <a:endParaRPr lang="en-US" sz="1500" dirty="0"/>
          </a:p>
          <a:p>
            <a:pPr indent="0" marL="0">
              <a:buNone/>
            </a:pPr>
            <a:r>
              <a:rPr lang="en-US" sz="1050" b="1" u="sng" dirty="0">
                <a:solidFill>
                  <a:srgbClr val="0F6E75"/>
                </a:solidFill>
                <a:hlinkClick r:id="rId14" invalidUrl="" action="" tgtFrame="" tooltip="" history="1" highlightClick="0" endSnd="0">
                  <a:extLst>
                    <a:ext uri="{A12FA001-AC4F-418D-AE19-62706E023703}">
                      <ahyp:hlinkClr xmlns:ahyp="http://schemas.microsoft.com/office/drawing/2018/hyperlinkcolor" val="tx"/>
                    </a:ext>
                  </a:extLst>
                </a:hlinkClick>
              </a:rPr>
              <a:t>pvn.vn — quý I/2025</a:t>
            </a:r>
            <a:endParaRPr lang="en-US" sz="1500" dirty="0"/>
          </a:p>
          <a:p>
            <a:pPr indent="0" marL="0">
              <a:spcAft>
                <a:spcPts val="400"/>
              </a:spcAft>
              <a:buNone/>
            </a:pPr>
            <a:r>
              <a:rPr lang="en-US" sz="950" dirty="0">
                <a:solidFill>
                  <a:srgbClr val="4A5560"/>
                </a:solidFill>
              </a:rPr>
              <a:t>kênh TMĐT tăng 1,8 lần</a:t>
            </a:r>
            <a:endParaRPr lang="en-US" sz="1500" dirty="0"/>
          </a:p>
          <a:p>
            <a:pPr indent="0" marL="0">
              <a:buNone/>
            </a:pPr>
            <a:r>
              <a:rPr lang="en-US" sz="1050" b="1" u="sng" dirty="0">
                <a:solidFill>
                  <a:srgbClr val="0F6E75"/>
                </a:solidFill>
                <a:hlinkClick r:id="rId15" invalidUrl="" action="" tgtFrame="" tooltip="" history="1" highlightClick="0" endSnd="0">
                  <a:extLst>
                    <a:ext uri="{A12FA001-AC4F-418D-AE19-62706E023703}">
                      <ahyp:hlinkClr xmlns:ahyp="http://schemas.microsoft.com/office/drawing/2018/hyperlinkcolor" val="tx"/>
                    </a:ext>
                  </a:extLst>
                </a:hlinkClick>
              </a:rPr>
              <a:t>Giá niêm yết PVI, Bảo Việt</a:t>
            </a:r>
            <a:endParaRPr lang="en-US" sz="1500" dirty="0"/>
          </a:p>
          <a:p>
            <a:pPr indent="0" marL="0">
              <a:spcAft>
                <a:spcPts val="400"/>
              </a:spcAft>
              <a:buNone/>
            </a:pPr>
            <a:r>
              <a:rPr lang="en-US" sz="950" dirty="0">
                <a:solidFill>
                  <a:srgbClr val="4A5560"/>
                </a:solidFill>
              </a:rPr>
              <a:t>phí du lịch, sức khỏe, nhà, vật chất xe</a:t>
            </a:r>
            <a:endParaRPr lang="en-US" sz="1500" dirty="0"/>
          </a:p>
          <a:p>
            <a:pPr indent="0" marL="0">
              <a:buNone/>
            </a:pPr>
            <a:r>
              <a:rPr lang="en-US" sz="1050" b="1" u="sng" dirty="0">
                <a:solidFill>
                  <a:srgbClr val="0F6E75"/>
                </a:solidFill>
                <a:hlinkClick r:id="rId16" invalidUrl="" action="" tgtFrame="" tooltip="" history="1" highlightClick="0" endSnd="0">
                  <a:extLst>
                    <a:ext uri="{A12FA001-AC4F-418D-AE19-62706E023703}">
                      <ahyp:hlinkClr xmlns:ahyp="http://schemas.microsoft.com/office/drawing/2018/hyperlinkcolor" val="tx"/>
                    </a:ext>
                  </a:extLst>
                </a:hlinkClick>
              </a:rPr>
              <a:t>Báo chí: hợp đồng lớn</a:t>
            </a:r>
            <a:endParaRPr lang="en-US" sz="1500" dirty="0"/>
          </a:p>
          <a:p>
            <a:pPr indent="0" marL="0">
              <a:spcAft>
                <a:spcPts val="400"/>
              </a:spcAft>
              <a:buNone/>
            </a:pPr>
            <a:r>
              <a:rPr lang="en-US" sz="950" dirty="0">
                <a:solidFill>
                  <a:srgbClr val="4A5560"/>
                </a:solidFill>
              </a:rPr>
              <a:t>Vietnam Airlines, Quảng Trạch, Long Thành, Vinalines</a:t>
            </a:r>
            <a:endParaRPr lang="en-US" sz="1500" dirty="0"/>
          </a:p>
          <a:p>
            <a:pPr indent="0" marL="0">
              <a:buNone/>
            </a:pPr>
            <a:r>
              <a:rPr lang="en-US" sz="1050" b="1" u="sng" dirty="0">
                <a:solidFill>
                  <a:srgbClr val="0F6E75"/>
                </a:solidFill>
                <a:hlinkClick r:id="rId17" invalidUrl="" action="" tgtFrame="" tooltip="" history="1" highlightClick="0" endSnd="0">
                  <a:extLst>
                    <a:ext uri="{A12FA001-AC4F-418D-AE19-62706E023703}">
                      <ahyp:hlinkClr xmlns:ahyp="http://schemas.microsoft.com/office/drawing/2018/hyperlinkcolor" val="tx"/>
                    </a:ext>
                  </a:extLst>
                </a:hlinkClick>
              </a:rPr>
              <a:t>Bảo Việt IR 2024 — tr. 127</a:t>
            </a:r>
            <a:endParaRPr lang="en-US" sz="1500" dirty="0"/>
          </a:p>
          <a:p>
            <a:pPr indent="0" marL="0">
              <a:spcAft>
                <a:spcPts val="400"/>
              </a:spcAft>
              <a:buNone/>
            </a:pPr>
            <a:r>
              <a:rPr lang="en-US" sz="950" dirty="0">
                <a:solidFill>
                  <a:srgbClr val="4A5560"/>
                </a:solidFill>
              </a:rPr>
              <a:t>mô hình 79 công ty thành viên</a:t>
            </a:r>
            <a:endParaRPr lang="en-US" sz="1500" dirty="0"/>
          </a:p>
        </p:txBody>
      </p:sp>
      <p:sp>
        <p:nvSpPr>
          <p:cNvPr id="16" name="card"/>
          <p:cNvSpPr/>
          <p:nvPr/>
        </p:nvSpPr>
        <p:spPr>
          <a:xfrm>
            <a:off x="7242048" y="1188720"/>
            <a:ext cx="2121408" cy="5029200"/>
          </a:xfrm>
          <a:prstGeom prst="roundRect">
            <a:avLst>
              <a:gd name="adj" fmla="val 517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Dataset &amp; chuẩn ngành"/>
          <p:cNvSpPr/>
          <p:nvPr/>
        </p:nvSpPr>
        <p:spPr>
          <a:xfrm>
            <a:off x="7333488" y="1280160"/>
            <a:ext cx="1938528" cy="658368"/>
          </a:xfrm>
          <a:prstGeom prst="roundRect">
            <a:avLst>
              <a:gd name="adj" fmla="val 11111"/>
            </a:avLst>
          </a:prstGeom>
          <a:solidFill>
            <a:schemeClr val="accent6"/>
          </a:solidFill>
          <a:ln w="12700">
            <a:solidFill>
              <a:schemeClr val="accent6"/>
            </a:solidFill>
            <a:prstDash val="solid"/>
          </a:ln>
        </p:spPr>
      </p:sp>
      <p:sp>
        <p:nvSpPr>
          <p:cNvPr id="18" name="Text 15"/>
          <p:cNvSpPr txBox="1"/>
          <p:nvPr/>
        </p:nvSpPr>
        <p:spPr>
          <a:xfrm>
            <a:off x="7406640" y="1280160"/>
            <a:ext cx="1792224" cy="658368"/>
          </a:xfrm>
          <a:prstGeom prst="rect">
            <a:avLst/>
          </a:prstGeom>
          <a:noFill/>
          <a:ln/>
        </p:spPr>
        <p:txBody>
          <a:bodyPr wrap="square" lIns="0" tIns="0" rIns="0" bIns="0" rtlCol="0" anchor="ctr"/>
          <a:lstStyle/>
          <a:p>
            <a:pPr indent="0" marL="0">
              <a:buNone/>
            </a:pPr>
            <a:r>
              <a:rPr lang="en-US" sz="1200" b="1" dirty="0">
                <a:solidFill>
                  <a:schemeClr val="bg1"/>
                </a:solidFill>
              </a:rPr>
              <a:t>Dataset &amp; chuẩn ngành</a:t>
            </a:r>
            <a:endParaRPr lang="en-US" sz="1500" dirty="0"/>
          </a:p>
          <a:p>
            <a:pPr indent="0" marL="0">
              <a:buNone/>
            </a:pPr>
            <a:r>
              <a:rPr lang="en-US" sz="950" dirty="0">
                <a:solidFill>
                  <a:schemeClr val="bg1"/>
                </a:solidFill>
              </a:rPr>
              <a:t>chỉ chứng minh cấu trúc</a:t>
            </a:r>
            <a:endParaRPr lang="en-US" sz="1500" dirty="0"/>
          </a:p>
        </p:txBody>
      </p:sp>
      <p:sp>
        <p:nvSpPr>
          <p:cNvPr id="19" name="Text 16"/>
          <p:cNvSpPr txBox="1"/>
          <p:nvPr/>
        </p:nvSpPr>
        <p:spPr>
          <a:xfrm>
            <a:off x="7370064" y="2029968"/>
            <a:ext cx="1883664" cy="4114800"/>
          </a:xfrm>
          <a:prstGeom prst="rect">
            <a:avLst/>
          </a:prstGeom>
          <a:noFill/>
          <a:ln/>
        </p:spPr>
        <p:txBody>
          <a:bodyPr wrap="square" lIns="0" tIns="0" rIns="0" bIns="0" rtlCol="0" anchor="t"/>
          <a:lstStyle/>
          <a:p>
            <a:pPr indent="0" marL="0">
              <a:buNone/>
            </a:pPr>
            <a:r>
              <a:rPr lang="en-US" sz="1050" b="1" u="sng" dirty="0">
                <a:solidFill>
                  <a:srgbClr val="0F6E75"/>
                </a:solidFill>
                <a:hlinkClick r:id="rId18" invalidUrl="" action="" tgtFrame="" tooltip="" history="1" highlightClick="0" endSnd="0">
                  <a:extLst>
                    <a:ext uri="{A12FA001-AC4F-418D-AE19-62706E023703}">
                      <ahyp:hlinkClr xmlns:ahyp="http://schemas.microsoft.com/office/drawing/2018/hyperlinkcolor" val="tx"/>
                    </a:ext>
                  </a:extLst>
                </a:hlinkClick>
              </a:rPr>
              <a:t>CASdatasets fremotor, freMTPL2</a:t>
            </a:r>
            <a:endParaRPr lang="en-US" sz="1500" dirty="0"/>
          </a:p>
          <a:p>
            <a:pPr indent="0" marL="0">
              <a:spcAft>
                <a:spcPts val="400"/>
              </a:spcAft>
              <a:buNone/>
            </a:pPr>
            <a:r>
              <a:rPr lang="en-US" sz="950" dirty="0">
                <a:solidFill>
                  <a:srgbClr val="4A5560"/>
                </a:solidFill>
              </a:rPr>
              <a:t>phí theo quyền lợi; TNDS rất nhiều đơn nhỏ</a:t>
            </a:r>
            <a:endParaRPr lang="en-US" sz="1500" dirty="0"/>
          </a:p>
          <a:p>
            <a:pPr indent="0" marL="0">
              <a:buNone/>
            </a:pPr>
            <a:r>
              <a:rPr lang="en-US" sz="1050" b="1" u="sng" dirty="0">
                <a:solidFill>
                  <a:srgbClr val="0F6E75"/>
                </a:solidFill>
                <a:hlinkClick r:id="rId19" invalidUrl="" action="" tgtFrame="" tooltip="" history="1" highlightClick="0" endSnd="0">
                  <a:extLst>
                    <a:ext uri="{A12FA001-AC4F-418D-AE19-62706E023703}">
                      <ahyp:hlinkClr xmlns:ahyp="http://schemas.microsoft.com/office/drawing/2018/hyperlinkcolor" val="tx"/>
                    </a:ext>
                  </a:extLst>
                </a:hlinkClick>
              </a:rPr>
              <a:t>Kaggle Travel Insurance</a:t>
            </a:r>
            <a:endParaRPr lang="en-US" sz="1500" dirty="0"/>
          </a:p>
          <a:p>
            <a:pPr indent="0" marL="0">
              <a:spcAft>
                <a:spcPts val="400"/>
              </a:spcAft>
              <a:buNone/>
            </a:pPr>
            <a:r>
              <a:rPr lang="en-US" sz="950" dirty="0">
                <a:solidFill>
                  <a:srgbClr val="4A5560"/>
                </a:solidFill>
              </a:rPr>
              <a:t>hoàn phí số âm; đại lý hãng bay / du lịch</a:t>
            </a:r>
            <a:endParaRPr lang="en-US" sz="1500" dirty="0"/>
          </a:p>
          <a:p>
            <a:pPr indent="0" marL="0">
              <a:buNone/>
            </a:pPr>
            <a:r>
              <a:rPr lang="en-US" sz="1050" b="1" u="sng" dirty="0">
                <a:solidFill>
                  <a:srgbClr val="0F6E75"/>
                </a:solidFill>
                <a:hlinkClick r:id="rId20" invalidUrl="" action="" tgtFrame="" tooltip="" history="1" highlightClick="0" endSnd="0">
                  <a:extLst>
                    <a:ext uri="{A12FA001-AC4F-418D-AE19-62706E023703}">
                      <ahyp:hlinkClr xmlns:ahyp="http://schemas.microsoft.com/office/drawing/2018/hyperlinkcolor" val="tx"/>
                    </a:ext>
                  </a:extLst>
                </a:hlinkClick>
              </a:rPr>
              <a:t>CAS Schedule P · UCI COIL 2000</a:t>
            </a:r>
            <a:endParaRPr lang="en-US" sz="1500" dirty="0"/>
          </a:p>
          <a:p>
            <a:pPr indent="0" marL="0">
              <a:spcAft>
                <a:spcPts val="400"/>
              </a:spcAft>
              <a:buNone/>
            </a:pPr>
            <a:r>
              <a:rPr lang="en-US" sz="950" dirty="0">
                <a:solidFill>
                  <a:srgbClr val="4A5560"/>
                </a:solidFill>
              </a:rPr>
              <a:t>phần giữ lại; phân khúc khách, bán chéo</a:t>
            </a:r>
            <a:endParaRPr lang="en-US" sz="1500" dirty="0"/>
          </a:p>
          <a:p>
            <a:pPr indent="0" marL="0">
              <a:buNone/>
            </a:pPr>
            <a:r>
              <a:rPr lang="en-US" sz="1050" b="1" u="sng" dirty="0">
                <a:solidFill>
                  <a:srgbClr val="0F6E75"/>
                </a:solidFill>
                <a:hlinkClick r:id="rId21" invalidUrl="" action="" tgtFrame="" tooltip="" history="1" highlightClick="0" endSnd="0">
                  <a:extLst>
                    <a:ext uri="{A12FA001-AC4F-418D-AE19-62706E023703}">
                      <ahyp:hlinkClr xmlns:ahyp="http://schemas.microsoft.com/office/drawing/2018/hyperlinkcolor" val="tx"/>
                    </a:ext>
                  </a:extLst>
                </a:hlinkClick>
              </a:rPr>
              <a:t>Synthea · CMS DE-SynPUF</a:t>
            </a:r>
            <a:endParaRPr lang="en-US" sz="1500" dirty="0"/>
          </a:p>
          <a:p>
            <a:pPr indent="0" marL="0">
              <a:spcAft>
                <a:spcPts val="400"/>
              </a:spcAft>
              <a:buNone/>
            </a:pPr>
            <a:r>
              <a:rPr lang="en-US" sz="950" dirty="0">
                <a:solidFill>
                  <a:srgbClr val="4A5560"/>
                </a:solidFill>
              </a:rPr>
              <a:t>phương pháp sinh dữ liệu giả lập</a:t>
            </a:r>
            <a:endParaRPr lang="en-US" sz="1500" dirty="0"/>
          </a:p>
          <a:p>
            <a:pPr indent="0" marL="0">
              <a:buNone/>
            </a:pPr>
            <a:r>
              <a:rPr lang="en-US" sz="1050" b="1" u="sng" dirty="0">
                <a:solidFill>
                  <a:srgbClr val="0F6E75"/>
                </a:solidFill>
                <a:hlinkClick r:id="rId22" invalidUrl="" action="" tgtFrame="" tooltip="" history="1" highlightClick="0" endSnd="0">
                  <a:extLst>
                    <a:ext uri="{A12FA001-AC4F-418D-AE19-62706E023703}">
                      <ahyp:hlinkClr xmlns:ahyp="http://schemas.microsoft.com/office/drawing/2018/hyperlinkcolor" val="tx"/>
                    </a:ext>
                  </a:extLst>
                </a:hlinkClick>
              </a:rPr>
              <a:t>ACORD · Kimball · OMG · MS CDM</a:t>
            </a:r>
            <a:endParaRPr lang="en-US" sz="1500" dirty="0"/>
          </a:p>
          <a:p>
            <a:pPr indent="0" marL="0">
              <a:spcAft>
                <a:spcPts val="400"/>
              </a:spcAft>
              <a:buNone/>
            </a:pPr>
            <a:r>
              <a:rPr lang="en-US" sz="950" dirty="0">
                <a:solidFill>
                  <a:srgbClr val="4A5560"/>
                </a:solidFill>
              </a:rPr>
              <a:t>hợp đồng → giao dịch → dòng phí</a:t>
            </a:r>
            <a:endParaRPr lang="en-US" sz="1500" dirty="0"/>
          </a:p>
          <a:p>
            <a:pPr indent="0" marL="0">
              <a:buNone/>
            </a:pPr>
            <a:r>
              <a:rPr lang="en-US" sz="1050" b="1" u="sng" dirty="0">
                <a:solidFill>
                  <a:srgbClr val="0F6E75"/>
                </a:solidFill>
                <a:hlinkClick r:id="rId23" invalidUrl="" action="" tgtFrame="" tooltip="" history="1" highlightClick="0" endSnd="0">
                  <a:extLst>
                    <a:ext uri="{A12FA001-AC4F-418D-AE19-62706E023703}">
                      <ahyp:hlinkClr xmlns:ahyp="http://schemas.microsoft.com/office/drawing/2018/hyperlinkcolor" val="tx"/>
                    </a:ext>
                  </a:extLst>
                </a:hlinkClick>
              </a:rPr>
              <a:t>Solvency II Annex I</a:t>
            </a:r>
            <a:endParaRPr lang="en-US" sz="1500" dirty="0"/>
          </a:p>
          <a:p>
            <a:pPr indent="0" marL="0">
              <a:spcAft>
                <a:spcPts val="400"/>
              </a:spcAft>
              <a:buNone/>
            </a:pPr>
            <a:r>
              <a:rPr lang="en-US" sz="950" dirty="0">
                <a:solidFill>
                  <a:srgbClr val="4A5560"/>
                </a:solidFill>
              </a:rPr>
              <a:t>mã nghiệp vụ đối chiếu quốc tế</a:t>
            </a:r>
            <a:endParaRPr lang="en-US" sz="1500" dirty="0"/>
          </a:p>
        </p:txBody>
      </p:sp>
      <p:sp>
        <p:nvSpPr>
          <p:cNvPr id="20" name="card"/>
          <p:cNvSpPr/>
          <p:nvPr/>
        </p:nvSpPr>
        <p:spPr>
          <a:xfrm>
            <a:off x="9473184" y="1188720"/>
            <a:ext cx="2121408" cy="5029200"/>
          </a:xfrm>
          <a:prstGeom prst="roundRect">
            <a:avLst>
              <a:gd name="adj" fmla="val 517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Bảo hiểm vi mô &amp; đơn vị PVI"/>
          <p:cNvSpPr/>
          <p:nvPr/>
        </p:nvSpPr>
        <p:spPr>
          <a:xfrm>
            <a:off x="9564624" y="1280160"/>
            <a:ext cx="1938528" cy="658368"/>
          </a:xfrm>
          <a:prstGeom prst="roundRect">
            <a:avLst>
              <a:gd name="adj" fmla="val 11111"/>
            </a:avLst>
          </a:prstGeom>
          <a:solidFill>
            <a:schemeClr val="accent2"/>
          </a:solidFill>
          <a:ln w="12700">
            <a:solidFill>
              <a:schemeClr val="accent2"/>
            </a:solidFill>
            <a:prstDash val="solid"/>
          </a:ln>
        </p:spPr>
      </p:sp>
      <p:sp>
        <p:nvSpPr>
          <p:cNvPr id="22" name="Text 19"/>
          <p:cNvSpPr txBox="1"/>
          <p:nvPr/>
        </p:nvSpPr>
        <p:spPr>
          <a:xfrm>
            <a:off x="9637776" y="1280160"/>
            <a:ext cx="1792224" cy="658368"/>
          </a:xfrm>
          <a:prstGeom prst="rect">
            <a:avLst/>
          </a:prstGeom>
          <a:noFill/>
          <a:ln/>
        </p:spPr>
        <p:txBody>
          <a:bodyPr wrap="square" lIns="0" tIns="0" rIns="0" bIns="0" rtlCol="0" anchor="ctr"/>
          <a:lstStyle/>
          <a:p>
            <a:pPr indent="0" marL="0">
              <a:buNone/>
            </a:pPr>
            <a:r>
              <a:rPr lang="en-US" sz="1200" b="1" dirty="0">
                <a:solidFill>
                  <a:schemeClr val="bg1"/>
                </a:solidFill>
              </a:rPr>
              <a:t>Bảo hiểm vi mô &amp; đơn vị PVI</a:t>
            </a:r>
            <a:endParaRPr lang="en-US" sz="1500" dirty="0"/>
          </a:p>
          <a:p>
            <a:pPr indent="0" marL="0">
              <a:buNone/>
            </a:pPr>
            <a:r>
              <a:rPr lang="en-US" sz="950" dirty="0">
                <a:solidFill>
                  <a:schemeClr val="bg1"/>
                </a:solidFill>
              </a:rPr>
              <a:t>4 sản phẩm vi mô, 47 đơn vị</a:t>
            </a:r>
            <a:endParaRPr lang="en-US" sz="1500" dirty="0"/>
          </a:p>
        </p:txBody>
      </p:sp>
      <p:sp>
        <p:nvSpPr>
          <p:cNvPr id="23" name="Text 20"/>
          <p:cNvSpPr txBox="1"/>
          <p:nvPr/>
        </p:nvSpPr>
        <p:spPr>
          <a:xfrm>
            <a:off x="9601200" y="2029968"/>
            <a:ext cx="1883664" cy="4114800"/>
          </a:xfrm>
          <a:prstGeom prst="rect">
            <a:avLst/>
          </a:prstGeom>
          <a:noFill/>
          <a:ln/>
        </p:spPr>
        <p:txBody>
          <a:bodyPr wrap="square" lIns="0" tIns="0" rIns="0" bIns="0" rtlCol="0" anchor="t"/>
          <a:lstStyle/>
          <a:p>
            <a:pPr indent="0" marL="0">
              <a:buNone/>
            </a:pPr>
            <a:r>
              <a:rPr lang="en-US" sz="1050" b="1" u="sng" dirty="0">
                <a:solidFill>
                  <a:srgbClr val="0F6E75"/>
                </a:solidFill>
                <a:hlinkClick r:id="rId24" invalidUrl="" action="" tgtFrame="" tooltip="" history="1" highlightClick="0" endSnd="0">
                  <a:extLst>
                    <a:ext uri="{A12FA001-AC4F-418D-AE19-62706E023703}">
                      <ahyp:hlinkClr xmlns:ahyp="http://schemas.microsoft.com/office/drawing/2018/hyperlinkcolor" val="tx"/>
                    </a:ext>
                  </a:extLst>
                </a:hlinkClick>
              </a:rPr>
              <a:t>pvi.com.vn — mạng lưới</a:t>
            </a:r>
            <a:endParaRPr lang="en-US" sz="1500" dirty="0"/>
          </a:p>
          <a:p>
            <a:pPr indent="0" marL="0">
              <a:spcAft>
                <a:spcPts val="400"/>
              </a:spcAft>
              <a:buNone/>
            </a:pPr>
            <a:r>
              <a:rPr lang="en-US" sz="950" dirty="0">
                <a:solidFill>
                  <a:srgbClr val="4A5560"/>
                </a:solidFill>
              </a:rPr>
              <a:t>47 đơn vị; tỉnh = địa chỉ trụ sở</a:t>
            </a:r>
            <a:endParaRPr lang="en-US" sz="1500" dirty="0"/>
          </a:p>
          <a:p>
            <a:pPr indent="0" marL="0">
              <a:buNone/>
            </a:pPr>
            <a:r>
              <a:rPr lang="en-US" sz="1050" b="1" u="sng" dirty="0">
                <a:solidFill>
                  <a:srgbClr val="0F6E75"/>
                </a:solidFill>
                <a:hlinkClick r:id="rId25" invalidUrl="" action="" tgtFrame="" tooltip="" history="1" highlightClick="0" endSnd="0">
                  <a:extLst>
                    <a:ext uri="{A12FA001-AC4F-418D-AE19-62706E023703}">
                      <ahyp:hlinkClr xmlns:ahyp="http://schemas.microsoft.com/office/drawing/2018/hyperlinkcolor" val="tx"/>
                    </a:ext>
                  </a:extLst>
                </a:hlinkClick>
              </a:rPr>
              <a:t>BCTN PVI 2024 — tr. 12</a:t>
            </a:r>
            <a:endParaRPr lang="en-US" sz="1500" dirty="0"/>
          </a:p>
          <a:p>
            <a:pPr indent="0" marL="0">
              <a:spcAft>
                <a:spcPts val="400"/>
              </a:spcAft>
              <a:buNone/>
            </a:pPr>
            <a:r>
              <a:rPr lang="en-US" sz="950" dirty="0">
                <a:solidFill>
                  <a:srgbClr val="4A5560"/>
                </a:solidFill>
              </a:rPr>
              <a:t>Bảo hiểm PVI = 100% của PVI Holdings</a:t>
            </a:r>
            <a:endParaRPr lang="en-US" sz="1500" dirty="0"/>
          </a:p>
          <a:p>
            <a:pPr indent="0" marL="0">
              <a:buNone/>
            </a:pPr>
            <a:r>
              <a:rPr lang="en-US" sz="1050" b="1" u="sng" dirty="0">
                <a:solidFill>
                  <a:srgbClr val="0F6E75"/>
                </a:solidFill>
                <a:hlinkClick r:id="rId26" invalidUrl="" action="" tgtFrame="" tooltip="" history="1" highlightClick="0" endSnd="0">
                  <a:extLst>
                    <a:ext uri="{A12FA001-AC4F-418D-AE19-62706E023703}">
                      <ahyp:hlinkClr xmlns:ahyp="http://schemas.microsoft.com/office/drawing/2018/hyperlinkcolor" val="tx"/>
                    </a:ext>
                  </a:extLst>
                </a:hlinkClick>
              </a:rPr>
              <a:t>BCTN PVI 2025 — tr. 29, 32–34</a:t>
            </a:r>
            <a:endParaRPr lang="en-US" sz="1500" dirty="0"/>
          </a:p>
          <a:p>
            <a:pPr indent="0" marL="0">
              <a:spcAft>
                <a:spcPts val="400"/>
              </a:spcAft>
              <a:buNone/>
            </a:pPr>
            <a:r>
              <a:rPr lang="en-US" sz="950" dirty="0">
                <a:solidFill>
                  <a:srgbClr val="4A5560"/>
                </a:solidFill>
              </a:rPr>
              <a:t>27.258 / 28.923 tỷ; Hanoi Re, PVIAM</a:t>
            </a:r>
            <a:endParaRPr lang="en-US" sz="1500" dirty="0"/>
          </a:p>
          <a:p>
            <a:pPr indent="0" marL="0">
              <a:buNone/>
            </a:pPr>
            <a:r>
              <a:rPr lang="en-US" sz="1050" b="1" u="sng" dirty="0">
                <a:solidFill>
                  <a:srgbClr val="0F6E75"/>
                </a:solidFill>
                <a:hlinkClick r:id="rId27" invalidUrl="" action="" tgtFrame="" tooltip="" history="1" highlightClick="0" endSnd="0">
                  <a:extLst>
                    <a:ext uri="{A12FA001-AC4F-418D-AE19-62706E023703}">
                      <ahyp:hlinkClr xmlns:ahyp="http://schemas.microsoft.com/office/drawing/2018/hyperlinkcolor" val="tx"/>
                    </a:ext>
                  </a:extLst>
                </a:hlinkClick>
              </a:rPr>
              <a:t>Tin vinh danh · pvisg.net</a:t>
            </a:r>
            <a:endParaRPr lang="en-US" sz="1500" dirty="0"/>
          </a:p>
          <a:p>
            <a:pPr indent="0" marL="0">
              <a:spcAft>
                <a:spcPts val="400"/>
              </a:spcAft>
              <a:buNone/>
            </a:pPr>
            <a:r>
              <a:rPr lang="en-US" sz="950" dirty="0">
                <a:solidFill>
                  <a:srgbClr val="4A5560"/>
                </a:solidFill>
              </a:rPr>
              <a:t>trọng số ×1,5 cho 5 đơn vị dẫn đầu</a:t>
            </a:r>
            <a:endParaRPr lang="en-US" sz="1500" dirty="0"/>
          </a:p>
          <a:p>
            <a:pPr indent="0" marL="0">
              <a:buNone/>
            </a:pPr>
            <a:r>
              <a:rPr lang="en-US" sz="1050" b="1" u="sng" dirty="0">
                <a:solidFill>
                  <a:srgbClr val="0F6E75"/>
                </a:solidFill>
                <a:hlinkClick r:id="rId28" invalidUrl="" action="" tgtFrame="" tooltip="" history="1" highlightClick="0" endSnd="0">
                  <a:extLst>
                    <a:ext uri="{A12FA001-AC4F-418D-AE19-62706E023703}">
                      <ahyp:hlinkClr xmlns:ahyp="http://schemas.microsoft.com/office/drawing/2018/hyperlinkcolor" val="tx"/>
                    </a:ext>
                  </a:extLst>
                </a:hlinkClick>
              </a:rPr>
              <a:t>Green SM Care · Food Care</a:t>
            </a:r>
            <a:endParaRPr lang="en-US" sz="1500" dirty="0"/>
          </a:p>
          <a:p>
            <a:pPr indent="0" marL="0">
              <a:spcAft>
                <a:spcPts val="400"/>
              </a:spcAft>
              <a:buNone/>
            </a:pPr>
            <a:r>
              <a:rPr lang="en-US" sz="950" dirty="0">
                <a:solidFill>
                  <a:srgbClr val="4A5560"/>
                </a:solidFill>
              </a:rPr>
              <a:t>1.000–2.000 đ/GCN; PVI Digital 1/5 nhà BH</a:t>
            </a:r>
            <a:endParaRPr lang="en-US" sz="1500" dirty="0"/>
          </a:p>
          <a:p>
            <a:pPr indent="0" marL="0">
              <a:buNone/>
            </a:pPr>
            <a:r>
              <a:rPr lang="en-US" sz="1050" b="1" u="sng" dirty="0">
                <a:solidFill>
                  <a:srgbClr val="0F6E75"/>
                </a:solidFill>
                <a:hlinkClick r:id="rId29" invalidUrl="" action="" tgtFrame="" tooltip="" history="1" highlightClick="0" endSnd="0">
                  <a:extLst>
                    <a:ext uri="{A12FA001-AC4F-418D-AE19-62706E023703}">
                      <ahyp:hlinkClr xmlns:ahyp="http://schemas.microsoft.com/office/drawing/2018/hyperlinkcolor" val="tx"/>
                    </a:ext>
                  </a:extLst>
                </a:hlinkClick>
              </a:rPr>
              <a:t>DelayCare · Shopee/Fuse</a:t>
            </a:r>
            <a:endParaRPr lang="en-US" sz="1500" dirty="0"/>
          </a:p>
          <a:p>
            <a:pPr indent="0" marL="0">
              <a:spcAft>
                <a:spcPts val="400"/>
              </a:spcAft>
              <a:buNone/>
            </a:pPr>
            <a:r>
              <a:rPr lang="en-US" sz="950" dirty="0">
                <a:solidFill>
                  <a:srgbClr val="4A5560"/>
                </a:solidFill>
              </a:rPr>
              <a:t>trễ chuyến bay; thiết bị điện tử TMĐT</a:t>
            </a:r>
            <a:endParaRPr lang="en-US" sz="1500" dirty="0"/>
          </a:p>
          <a:p>
            <a:pPr indent="0" marL="0">
              <a:buNone/>
            </a:pPr>
            <a:r>
              <a:rPr lang="en-US" sz="1050" b="1" u="sng" dirty="0">
                <a:solidFill>
                  <a:srgbClr val="0F6E75"/>
                </a:solidFill>
                <a:hlinkClick r:id="rId30" invalidUrl="" action="" tgtFrame="" tooltip="" history="1" highlightClick="0" endSnd="0">
                  <a:extLst>
                    <a:ext uri="{A12FA001-AC4F-418D-AE19-62706E023703}">
                      <ahyp:hlinkClr xmlns:ahyp="http://schemas.microsoft.com/office/drawing/2018/hyperlinkcolor" val="tx"/>
                    </a:ext>
                  </a:extLst>
                </a:hlinkClick>
              </a:rPr>
              <a:t>fhsc · OPES 2023</a:t>
            </a:r>
            <a:endParaRPr lang="en-US" sz="1500" dirty="0"/>
          </a:p>
          <a:p>
            <a:pPr indent="0" marL="0">
              <a:spcAft>
                <a:spcPts val="400"/>
              </a:spcAft>
              <a:buNone/>
            </a:pPr>
            <a:r>
              <a:rPr lang="en-US" sz="950" dirty="0">
                <a:solidFill>
                  <a:srgbClr val="4A5560"/>
                </a:solidFill>
              </a:rPr>
              <a:t>Green SM &gt; 1 triệu chuyến/ngày; OPES 109,3 triệu HĐ</a:t>
            </a:r>
            <a:endParaRPr lang="en-US" sz="1500" dirty="0"/>
          </a:p>
          <a:p>
            <a:pPr indent="0" marL="0">
              <a:buNone/>
            </a:pPr>
            <a:r>
              <a:rPr lang="en-US" sz="1050" b="1" u="sng" dirty="0">
                <a:solidFill>
                  <a:srgbClr val="0F6E75"/>
                </a:solidFill>
                <a:hlinkClick r:id="rId31" invalidUrl="" action="" tgtFrame="" tooltip="" history="1" highlightClick="0" endSnd="0">
                  <a:extLst>
                    <a:ext uri="{A12FA001-AC4F-418D-AE19-62706E023703}">
                      <ahyp:hlinkClr xmlns:ahyp="http://schemas.microsoft.com/office/drawing/2018/hyperlinkcolor" val="tx"/>
                    </a:ext>
                  </a:extLst>
                </a:hlinkClick>
              </a:rPr>
              <a:t>tinnhanhchungkhoan.vn</a:t>
            </a:r>
            <a:endParaRPr lang="en-US" sz="1500" dirty="0"/>
          </a:p>
          <a:p>
            <a:pPr indent="0" marL="0">
              <a:spcAft>
                <a:spcPts val="400"/>
              </a:spcAft>
              <a:buNone/>
            </a:pPr>
            <a:r>
              <a:rPr lang="en-US" sz="950" dirty="0">
                <a:solidFill>
                  <a:srgbClr val="4A5560"/>
                </a:solidFill>
              </a:rPr>
              <a:t>Grab = Chubb, Be = OPES → dùng Green SM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Vì sao dữ liệu chia thành 5 bảng giao dịch</a:t>
            </a:r>
            <a:endParaRPr lang="en-US" sz="3000" dirty="0"/>
          </a:p>
        </p:txBody>
      </p:sp>
      <p:sp>
        <p:nvSpPr>
          <p:cNvPr id="4" name="Hợp đồng"/>
          <p:cNvSpPr/>
          <p:nvPr/>
        </p:nvSpPr>
        <p:spPr>
          <a:xfrm>
            <a:off x="548640" y="1463040"/>
            <a:ext cx="2194560" cy="868680"/>
          </a:xfrm>
          <a:prstGeom prst="roundRect">
            <a:avLst>
              <a:gd name="adj" fmla="val 10526"/>
            </a:avLst>
          </a:prstGeom>
          <a:solidFill>
            <a:schemeClr val="accent1"/>
          </a:solidFill>
          <a:ln w="12700">
            <a:solidFill>
              <a:schemeClr val="accent1"/>
            </a:solidFill>
            <a:prstDash val="solid"/>
          </a:ln>
        </p:spPr>
      </p:sp>
      <p:sp>
        <p:nvSpPr>
          <p:cNvPr id="5" name="Text 2"/>
          <p:cNvSpPr txBox="1"/>
          <p:nvPr/>
        </p:nvSpPr>
        <p:spPr>
          <a:xfrm>
            <a:off x="64008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Hợp đồng</a:t>
            </a:r>
            <a:endParaRPr lang="en-US" sz="1500" dirty="0"/>
          </a:p>
          <a:p>
            <a:pPr algn="ctr" indent="0" marL="0">
              <a:buNone/>
            </a:pPr>
            <a:r>
              <a:rPr lang="en-US" sz="1100" dirty="0">
                <a:solidFill>
                  <a:schemeClr val="bg1"/>
                </a:solidFill>
              </a:rPr>
              <a:t>4.082.637 dòng</a:t>
            </a:r>
            <a:endParaRPr lang="en-US" sz="1500" dirty="0"/>
          </a:p>
        </p:txBody>
      </p:sp>
      <p:sp>
        <p:nvSpPr>
          <p:cNvPr id="6" name="Giao dịch"/>
          <p:cNvSpPr/>
          <p:nvPr/>
        </p:nvSpPr>
        <p:spPr>
          <a:xfrm>
            <a:off x="3108960" y="1463040"/>
            <a:ext cx="2194560" cy="868680"/>
          </a:xfrm>
          <a:prstGeom prst="roundRect">
            <a:avLst>
              <a:gd name="adj" fmla="val 10526"/>
            </a:avLst>
          </a:prstGeom>
          <a:solidFill>
            <a:schemeClr val="accent1"/>
          </a:solidFill>
          <a:ln w="12700">
            <a:solidFill>
              <a:schemeClr val="accent1"/>
            </a:solidFill>
            <a:prstDash val="solid"/>
          </a:ln>
        </p:spPr>
      </p:sp>
      <p:sp>
        <p:nvSpPr>
          <p:cNvPr id="7" name="Text 4"/>
          <p:cNvSpPr txBox="1"/>
          <p:nvPr/>
        </p:nvSpPr>
        <p:spPr>
          <a:xfrm>
            <a:off x="320040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Giao dịch</a:t>
            </a:r>
            <a:endParaRPr lang="en-US" sz="1500" dirty="0"/>
          </a:p>
          <a:p>
            <a:pPr algn="ctr" indent="0" marL="0">
              <a:buNone/>
            </a:pPr>
            <a:r>
              <a:rPr lang="en-US" sz="1100" dirty="0">
                <a:solidFill>
                  <a:schemeClr val="bg1"/>
                </a:solidFill>
              </a:rPr>
              <a:t>4.098.401 dòng</a:t>
            </a:r>
            <a:endParaRPr lang="en-US" sz="1500" dirty="0"/>
          </a:p>
        </p:txBody>
      </p:sp>
      <p:sp>
        <p:nvSpPr>
          <p:cNvPr id="8" name="Dòng phí theo SP"/>
          <p:cNvSpPr/>
          <p:nvPr/>
        </p:nvSpPr>
        <p:spPr>
          <a:xfrm>
            <a:off x="5669280" y="1463040"/>
            <a:ext cx="2194560" cy="868680"/>
          </a:xfrm>
          <a:prstGeom prst="roundRect">
            <a:avLst>
              <a:gd name="adj" fmla="val 10526"/>
            </a:avLst>
          </a:prstGeom>
          <a:solidFill>
            <a:schemeClr val="accent1"/>
          </a:solidFill>
          <a:ln w="12700">
            <a:solidFill>
              <a:schemeClr val="accent1"/>
            </a:solidFill>
            <a:prstDash val="solid"/>
          </a:ln>
        </p:spPr>
      </p:sp>
      <p:sp>
        <p:nvSpPr>
          <p:cNvPr id="9" name="Text 6"/>
          <p:cNvSpPr txBox="1"/>
          <p:nvPr/>
        </p:nvSpPr>
        <p:spPr>
          <a:xfrm>
            <a:off x="576072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Dòng phí theo SP</a:t>
            </a:r>
            <a:endParaRPr lang="en-US" sz="1500" dirty="0"/>
          </a:p>
          <a:p>
            <a:pPr algn="ctr" indent="0" marL="0">
              <a:buNone/>
            </a:pPr>
            <a:r>
              <a:rPr lang="en-US" sz="1100" dirty="0">
                <a:solidFill>
                  <a:schemeClr val="bg1"/>
                </a:solidFill>
              </a:rPr>
              <a:t>4.127.680 dòng</a:t>
            </a:r>
            <a:endParaRPr lang="en-US" sz="1500" dirty="0"/>
          </a:p>
        </p:txBody>
      </p:sp>
      <p:sp>
        <p:nvSpPr>
          <p:cNvPr id="10" name="Đồng bảo hiểm"/>
          <p:cNvSpPr/>
          <p:nvPr/>
        </p:nvSpPr>
        <p:spPr>
          <a:xfrm>
            <a:off x="548640" y="2926080"/>
            <a:ext cx="2194560" cy="868680"/>
          </a:xfrm>
          <a:prstGeom prst="roundRect">
            <a:avLst>
              <a:gd name="adj" fmla="val 10526"/>
            </a:avLst>
          </a:prstGeom>
          <a:solidFill>
            <a:schemeClr val="accent4"/>
          </a:solidFill>
          <a:ln w="12700">
            <a:solidFill>
              <a:schemeClr val="accent4"/>
            </a:solidFill>
            <a:prstDash val="solid"/>
          </a:ln>
        </p:spPr>
      </p:sp>
      <p:sp>
        <p:nvSpPr>
          <p:cNvPr id="11" name="Text 8"/>
          <p:cNvSpPr txBox="1"/>
          <p:nvPr/>
        </p:nvSpPr>
        <p:spPr>
          <a:xfrm>
            <a:off x="640080" y="292608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Đồng bảo hiểm</a:t>
            </a:r>
            <a:endParaRPr lang="en-US" sz="1500" dirty="0"/>
          </a:p>
          <a:p>
            <a:pPr algn="ctr" indent="0" marL="0">
              <a:buNone/>
            </a:pPr>
            <a:r>
              <a:rPr lang="en-US" sz="1100" dirty="0">
                <a:solidFill>
                  <a:schemeClr val="bg1"/>
                </a:solidFill>
              </a:rPr>
              <a:t>4.082.967 dòng</a:t>
            </a:r>
            <a:endParaRPr lang="en-US" sz="1500" dirty="0"/>
          </a:p>
        </p:txBody>
      </p:sp>
      <p:sp>
        <p:nvSpPr>
          <p:cNvPr id="12" name="Phân bổ doanh thu"/>
          <p:cNvSpPr/>
          <p:nvPr/>
        </p:nvSpPr>
        <p:spPr>
          <a:xfrm>
            <a:off x="3108960" y="2926080"/>
            <a:ext cx="2194560" cy="868680"/>
          </a:xfrm>
          <a:prstGeom prst="roundRect">
            <a:avLst>
              <a:gd name="adj" fmla="val 10526"/>
            </a:avLst>
          </a:prstGeom>
          <a:solidFill>
            <a:schemeClr val="accent4"/>
          </a:solidFill>
          <a:ln w="12700">
            <a:solidFill>
              <a:schemeClr val="accent4"/>
            </a:solidFill>
            <a:prstDash val="solid"/>
          </a:ln>
        </p:spPr>
      </p:sp>
      <p:sp>
        <p:nvSpPr>
          <p:cNvPr id="13" name="Text 10"/>
          <p:cNvSpPr txBox="1"/>
          <p:nvPr/>
        </p:nvSpPr>
        <p:spPr>
          <a:xfrm>
            <a:off x="3200400" y="292608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Phân bổ doanh thu</a:t>
            </a:r>
            <a:endParaRPr lang="en-US" sz="1500" dirty="0"/>
          </a:p>
          <a:p>
            <a:pPr algn="ctr" indent="0" marL="0">
              <a:buNone/>
            </a:pPr>
            <a:r>
              <a:rPr lang="en-US" sz="1100" dirty="0">
                <a:solidFill>
                  <a:schemeClr val="bg1"/>
                </a:solidFill>
              </a:rPr>
              <a:t>4.152.252 dòng</a:t>
            </a:r>
            <a:endParaRPr lang="en-US" sz="1500" dirty="0"/>
          </a:p>
        </p:txBody>
      </p:sp>
      <p:sp>
        <p:nvSpPr>
          <p:cNvPr id="14" name="arrow"/>
          <p:cNvSpPr/>
          <p:nvPr/>
        </p:nvSpPr>
        <p:spPr>
          <a:xfrm>
            <a:off x="2743200" y="1892808"/>
            <a:ext cx="365760" cy="0"/>
          </a:xfrm>
          <a:prstGeom prst="line">
            <a:avLst/>
          </a:prstGeom>
          <a:noFill/>
          <a:ln w="19050">
            <a:solidFill>
              <a:srgbClr val="5B6673"/>
            </a:solidFill>
            <a:prstDash val="solid"/>
            <a:tailEnd type="triangle"/>
          </a:ln>
        </p:spPr>
      </p:sp>
      <p:sp>
        <p:nvSpPr>
          <p:cNvPr id="15" name="arrow"/>
          <p:cNvSpPr/>
          <p:nvPr/>
        </p:nvSpPr>
        <p:spPr>
          <a:xfrm>
            <a:off x="5303520" y="1892808"/>
            <a:ext cx="365760" cy="0"/>
          </a:xfrm>
          <a:prstGeom prst="line">
            <a:avLst/>
          </a:prstGeom>
          <a:noFill/>
          <a:ln w="19050">
            <a:solidFill>
              <a:srgbClr val="5B6673"/>
            </a:solidFill>
            <a:prstDash val="solid"/>
            <a:tailEnd type="triangle"/>
          </a:ln>
        </p:spPr>
      </p:sp>
      <p:sp>
        <p:nvSpPr>
          <p:cNvPr id="16" name="arrow"/>
          <p:cNvSpPr/>
          <p:nvPr/>
        </p:nvSpPr>
        <p:spPr>
          <a:xfrm>
            <a:off x="1645920" y="2331720"/>
            <a:ext cx="0" cy="594360"/>
          </a:xfrm>
          <a:prstGeom prst="line">
            <a:avLst/>
          </a:prstGeom>
          <a:noFill/>
          <a:ln w="19050">
            <a:solidFill>
              <a:srgbClr val="5B6673"/>
            </a:solidFill>
            <a:prstDash val="solid"/>
            <a:tailEnd type="triangle"/>
          </a:ln>
        </p:spPr>
      </p:sp>
      <p:sp>
        <p:nvSpPr>
          <p:cNvPr id="17" name="arrow"/>
          <p:cNvSpPr/>
          <p:nvPr/>
        </p:nvSpPr>
        <p:spPr>
          <a:xfrm>
            <a:off x="2377440" y="2331720"/>
            <a:ext cx="1463040" cy="594360"/>
          </a:xfrm>
          <a:prstGeom prst="line">
            <a:avLst/>
          </a:prstGeom>
          <a:noFill/>
          <a:ln w="19050">
            <a:solidFill>
              <a:srgbClr val="5B6673"/>
            </a:solidFill>
            <a:prstDash val="solid"/>
            <a:tailEnd type="triangle"/>
          </a:ln>
        </p:spPr>
      </p:sp>
      <p:sp>
        <p:nvSpPr>
          <p:cNvPr id="18" name="card"/>
          <p:cNvSpPr/>
          <p:nvPr/>
        </p:nvSpPr>
        <p:spPr>
          <a:xfrm>
            <a:off x="5669280" y="2926080"/>
            <a:ext cx="219456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5760720" y="2926080"/>
            <a:ext cx="2011680" cy="868680"/>
          </a:xfrm>
          <a:prstGeom prst="rect">
            <a:avLst/>
          </a:prstGeom>
          <a:noFill/>
          <a:ln/>
        </p:spPr>
        <p:txBody>
          <a:bodyPr wrap="square" lIns="0" tIns="0" rIns="0" bIns="0" rtlCol="0" anchor="ctr"/>
          <a:lstStyle/>
          <a:p>
            <a:pPr algn="ctr" indent="0" marL="0">
              <a:buNone/>
            </a:pPr>
            <a:r>
              <a:rPr lang="en-US" sz="1500" b="1" dirty="0">
                <a:solidFill>
                  <a:schemeClr val="tx2"/>
                </a:solidFill>
              </a:rPr>
              <a:t>16 danh mục</a:t>
            </a:r>
            <a:endParaRPr lang="en-US" sz="1500" dirty="0"/>
          </a:p>
          <a:p>
            <a:pPr algn="ctr" indent="0" marL="0">
              <a:buNone/>
            </a:pPr>
            <a:r>
              <a:rPr lang="en-US" sz="1100" dirty="0">
                <a:solidFill>
                  <a:schemeClr val="tx1"/>
                </a:solidFill>
              </a:rPr>
              <a:t>xem slide sau</a:t>
            </a:r>
            <a:endParaRPr lang="en-US" sz="1500" dirty="0"/>
          </a:p>
        </p:txBody>
      </p:sp>
      <p:sp>
        <p:nvSpPr>
          <p:cNvPr id="20" name="Text 17"/>
          <p:cNvSpPr txBox="1"/>
          <p:nvPr/>
        </p:nvSpPr>
        <p:spPr>
          <a:xfrm>
            <a:off x="8229600" y="1280160"/>
            <a:ext cx="3429000" cy="566928"/>
          </a:xfrm>
          <a:prstGeom prst="rect">
            <a:avLst/>
          </a:prstGeom>
          <a:noFill/>
          <a:ln/>
        </p:spPr>
        <p:txBody>
          <a:bodyPr wrap="square" lIns="0" tIns="0" rIns="0" bIns="0" rtlCol="0" anchor="t"/>
          <a:lstStyle/>
          <a:p>
            <a:pPr indent="0" marL="0">
              <a:buNone/>
            </a:pPr>
            <a:r>
              <a:rPr lang="en-US" sz="1150" b="1" dirty="0">
                <a:solidFill>
                  <a:schemeClr val="tx2"/>
                </a:solidFill>
              </a:rPr>
              <a:t>Hợp đồng: </a:t>
            </a:r>
            <a:pPr indent="0" marL="0">
              <a:buNone/>
            </a:pPr>
            <a:r>
              <a:rPr lang="en-US" sz="1150" dirty="0">
                <a:solidFill>
                  <a:schemeClr val="tx1"/>
                </a:solidFill>
              </a:rPr>
              <a:t>đơn vị giao kết pháp lý</a:t>
            </a:r>
            <a:endParaRPr lang="en-US" sz="1150" dirty="0"/>
          </a:p>
        </p:txBody>
      </p:sp>
      <p:sp>
        <p:nvSpPr>
          <p:cNvPr id="21" name="Text 18"/>
          <p:cNvSpPr txBox="1"/>
          <p:nvPr/>
        </p:nvSpPr>
        <p:spPr>
          <a:xfrm>
            <a:off x="8229600" y="1865376"/>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Luật KDBH 2022</a:t>
            </a:r>
            <a:endParaRPr lang="en-US" sz="1050" dirty="0"/>
          </a:p>
        </p:txBody>
      </p:sp>
      <p:sp>
        <p:nvSpPr>
          <p:cNvPr id="22" name="Text 19"/>
          <p:cNvSpPr txBox="1"/>
          <p:nvPr/>
        </p:nvSpPr>
        <p:spPr>
          <a:xfrm>
            <a:off x="8229600" y="2157984"/>
            <a:ext cx="3429000" cy="566928"/>
          </a:xfrm>
          <a:prstGeom prst="rect">
            <a:avLst/>
          </a:prstGeom>
          <a:noFill/>
          <a:ln/>
        </p:spPr>
        <p:txBody>
          <a:bodyPr wrap="square" lIns="0" tIns="0" rIns="0" bIns="0" rtlCol="0" anchor="t"/>
          <a:lstStyle/>
          <a:p>
            <a:pPr indent="0" marL="0">
              <a:buNone/>
            </a:pPr>
            <a:r>
              <a:rPr lang="en-US" sz="1150" b="1" dirty="0">
                <a:solidFill>
                  <a:schemeClr val="tx2"/>
                </a:solidFill>
              </a:rPr>
              <a:t>Giao dịch: </a:t>
            </a:r>
            <a:pPr indent="0" marL="0">
              <a:buNone/>
            </a:pPr>
            <a:r>
              <a:rPr lang="en-US" sz="1150" dirty="0">
                <a:solidFill>
                  <a:schemeClr val="tx1"/>
                </a:solidFill>
              </a:rPr>
              <a:t>doanh thu phát sinh theo từng lần cấp mới, tái tục, sửa đổi, hoàn, hủy — mỗi loại một tài khoản</a:t>
            </a:r>
            <a:endParaRPr lang="en-US" sz="1150" dirty="0"/>
          </a:p>
        </p:txBody>
      </p:sp>
      <p:sp>
        <p:nvSpPr>
          <p:cNvPr id="23" name="Text 20"/>
          <p:cNvSpPr txBox="1"/>
          <p:nvPr/>
        </p:nvSpPr>
        <p:spPr>
          <a:xfrm>
            <a:off x="8229600" y="2743200"/>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NĐ 46 Đ49; TT 232</a:t>
            </a:r>
            <a:endParaRPr lang="en-US" sz="1050" dirty="0"/>
          </a:p>
        </p:txBody>
      </p:sp>
      <p:sp>
        <p:nvSpPr>
          <p:cNvPr id="24" name="Text 21"/>
          <p:cNvSpPr txBox="1"/>
          <p:nvPr/>
        </p:nvSpPr>
        <p:spPr>
          <a:xfrm>
            <a:off x="8229600" y="3035808"/>
            <a:ext cx="3429000" cy="566928"/>
          </a:xfrm>
          <a:prstGeom prst="rect">
            <a:avLst/>
          </a:prstGeom>
          <a:noFill/>
          <a:ln/>
        </p:spPr>
        <p:txBody>
          <a:bodyPr wrap="square" lIns="0" tIns="0" rIns="0" bIns="0" rtlCol="0" anchor="t"/>
          <a:lstStyle/>
          <a:p>
            <a:pPr indent="0" marL="0">
              <a:buNone/>
            </a:pPr>
            <a:r>
              <a:rPr lang="en-US" sz="1150" b="1" dirty="0">
                <a:solidFill>
                  <a:schemeClr val="tx2"/>
                </a:solidFill>
              </a:rPr>
              <a:t>Dòng phí theo SP: </a:t>
            </a:r>
            <a:pPr indent="0" marL="0">
              <a:buNone/>
            </a:pPr>
            <a:r>
              <a:rPr lang="en-US" sz="1150" dirty="0">
                <a:solidFill>
                  <a:schemeClr val="tx1"/>
                </a:solidFill>
              </a:rPr>
              <a:t>1 hợp đồng nhiều sản phẩm (VCX + TNDS); doanh thu phải tách theo nghiệp vụ</a:t>
            </a:r>
            <a:endParaRPr lang="en-US" sz="1150" dirty="0"/>
          </a:p>
        </p:txBody>
      </p:sp>
      <p:sp>
        <p:nvSpPr>
          <p:cNvPr id="25" name="Text 22"/>
          <p:cNvSpPr txBox="1"/>
          <p:nvPr/>
        </p:nvSpPr>
        <p:spPr>
          <a:xfrm>
            <a:off x="8229600" y="3621024"/>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TT 232 Đ12; TT 67 Mẫu 2-PNT</a:t>
            </a:r>
            <a:endParaRPr lang="en-US" sz="1050" dirty="0"/>
          </a:p>
        </p:txBody>
      </p:sp>
      <p:sp>
        <p:nvSpPr>
          <p:cNvPr id="26" name="Text 23"/>
          <p:cNvSpPr txBox="1"/>
          <p:nvPr/>
        </p:nvSpPr>
        <p:spPr>
          <a:xfrm>
            <a:off x="8229600" y="3913632"/>
            <a:ext cx="3429000" cy="566928"/>
          </a:xfrm>
          <a:prstGeom prst="rect">
            <a:avLst/>
          </a:prstGeom>
          <a:noFill/>
          <a:ln/>
        </p:spPr>
        <p:txBody>
          <a:bodyPr wrap="square" lIns="0" tIns="0" rIns="0" bIns="0" rtlCol="0" anchor="t"/>
          <a:lstStyle/>
          <a:p>
            <a:pPr indent="0" marL="0">
              <a:buNone/>
            </a:pPr>
            <a:r>
              <a:rPr lang="en-US" sz="1150" b="1" dirty="0">
                <a:solidFill>
                  <a:schemeClr val="tx2"/>
                </a:solidFill>
              </a:rPr>
              <a:t>Đồng bảo hiểm: </a:t>
            </a:r>
            <a:pPr indent="0" marL="0">
              <a:buNone/>
            </a:pPr>
            <a:r>
              <a:rPr lang="en-US" sz="1150" dirty="0">
                <a:solidFill>
                  <a:schemeClr val="tx1"/>
                </a:solidFill>
              </a:rPr>
              <a:t>hợp đồng lớn có 3–6 DN, mỗi DN chỉ ghi phần mình; kiểm tra tổng 100%</a:t>
            </a:r>
            <a:endParaRPr lang="en-US" sz="1150" dirty="0"/>
          </a:p>
        </p:txBody>
      </p:sp>
      <p:sp>
        <p:nvSpPr>
          <p:cNvPr id="27" name="Text 24"/>
          <p:cNvSpPr txBox="1"/>
          <p:nvPr/>
        </p:nvSpPr>
        <p:spPr>
          <a:xfrm>
            <a:off x="8229600" y="4498848"/>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TT 232 Đ19</a:t>
            </a:r>
            <a:endParaRPr lang="en-US" sz="1050" dirty="0"/>
          </a:p>
        </p:txBody>
      </p:sp>
      <p:sp>
        <p:nvSpPr>
          <p:cNvPr id="28" name="Text 25"/>
          <p:cNvSpPr txBox="1"/>
          <p:nvPr/>
        </p:nvSpPr>
        <p:spPr>
          <a:xfrm>
            <a:off x="8229600" y="4791456"/>
            <a:ext cx="3429000" cy="566928"/>
          </a:xfrm>
          <a:prstGeom prst="rect">
            <a:avLst/>
          </a:prstGeom>
          <a:noFill/>
          <a:ln/>
        </p:spPr>
        <p:txBody>
          <a:bodyPr wrap="square" lIns="0" tIns="0" rIns="0" bIns="0" rtlCol="0" anchor="t"/>
          <a:lstStyle/>
          <a:p>
            <a:pPr indent="0" marL="0">
              <a:buNone/>
            </a:pPr>
            <a:r>
              <a:rPr lang="en-US" sz="1150" b="1" dirty="0">
                <a:solidFill>
                  <a:schemeClr val="tx2"/>
                </a:solidFill>
              </a:rPr>
              <a:t>Phân bổ doanh thu: </a:t>
            </a:r>
            <a:pPr indent="0" marL="0">
              <a:buNone/>
            </a:pPr>
            <a:r>
              <a:rPr lang="en-US" sz="1150" dirty="0">
                <a:solidFill>
                  <a:schemeClr val="tx1"/>
                </a:solidFill>
              </a:rPr>
              <a:t>đơn vị cấp đơn ≠ đơn vị ghi doanh thu (mô hình Tổng công ty) — giả định</a:t>
            </a:r>
            <a:endParaRPr lang="en-US" sz="1150" dirty="0"/>
          </a:p>
        </p:txBody>
      </p:sp>
      <p:sp>
        <p:nvSpPr>
          <p:cNvPr id="29" name="Text 26"/>
          <p:cNvSpPr txBox="1"/>
          <p:nvPr/>
        </p:nvSpPr>
        <p:spPr>
          <a:xfrm>
            <a:off x="8229600" y="5376672"/>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PVI 47, Bảo Việt 79 công ty</a:t>
            </a:r>
            <a:endParaRPr lang="en-US" sz="1050" dirty="0"/>
          </a:p>
        </p:txBody>
      </p:sp>
      <p:sp>
        <p:nvSpPr>
          <p:cNvPr id="30" name="Text 27"/>
          <p:cNvSpPr txBox="1"/>
          <p:nvPr/>
        </p:nvSpPr>
        <p:spPr>
          <a:xfrm>
            <a:off x="548640" y="4160520"/>
            <a:ext cx="7315200" cy="914400"/>
          </a:xfrm>
          <a:prstGeom prst="rect">
            <a:avLst/>
          </a:prstGeom>
          <a:noFill/>
          <a:ln/>
        </p:spPr>
        <p:txBody>
          <a:bodyPr wrap="square" lIns="0" tIns="0" rIns="0" bIns="0" rtlCol="0" anchor="t"/>
          <a:lstStyle/>
          <a:p>
            <a:pPr indent="0" marL="0">
              <a:buNone/>
            </a:pPr>
            <a:r>
              <a:rPr lang="en-US" sz="1300" dirty="0">
                <a:solidFill>
                  <a:srgbClr val="5B6673"/>
                </a:solidFill>
              </a:rPr>
              <a:t>Cấu trúc hợp đồng → giao dịch → dòng phí là chuẩn của ACORD, Microsoft CDM, OMG. Dataset public cùng cách tách: CASdatasets fremotor (phí theo từng quyền lợi), Synthea (bên bảo hiểm / thời gian tham gia / giao dịch), CAS Schedule P (phí toàn bộ / phần giữ lại).</a:t>
            </a:r>
            <a:endParaRPr lang="en-US" sz="1300" dirty="0"/>
          </a:p>
        </p:txBody>
      </p:sp>
      <p:sp>
        <p:nvSpPr>
          <p:cNvPr id="31" name="Text 28"/>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Luật KDBH 2022; NĐ 46/2023 Đ49; TT 232/2012 Đ12, Đ19; TT 67/2023 Mẫu 2-PNT; Bảo Việt Integrated Report 2024 — trang 127; pvi.com.vn/vi/network.</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danh mục quan trọng và căn cứ</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4572000"/>
                <a:gridCol w="4297680"/>
              </a:tblGrid>
              <a:tr h="566928">
                <a:tc>
                  <a:txBody>
                    <a:bodyPr/>
                    <a:lstStyle/>
                    <a:p>
                      <a:pPr indent="0" marL="0">
                        <a:buNone/>
                      </a:pPr>
                      <a:r>
                        <a:rPr lang="en-US" sz="1300" b="1" dirty="0">
                          <a:solidFill>
                            <a:srgbClr val="FFFFFF"/>
                          </a:solidFill>
                        </a:rPr>
                        <a:t>Danh mục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Gồm</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Vì sao / căn cứ</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566928">
                <a:tc>
                  <a:txBody>
                    <a:bodyPr/>
                    <a:lstStyle/>
                    <a:p>
                      <a:pPr indent="0" marL="0">
                        <a:buNone/>
                      </a:pPr>
                      <a:r>
                        <a:rPr lang="en-US" sz="1300" b="1" dirty="0">
                          <a:solidFill>
                            <a:srgbClr val="0B3B40"/>
                          </a:solidFill>
                        </a:rPr>
                        <a:t>Nghiệp vụ &amp; sản phẩm</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4 nghiệp vụ → 8 nhóm POC → 19 sản phẩm + 4 vi mô (Green SM Care, Food Care, DelayCare, thiết bị điện tử)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NĐ 46 Đ4–5; TT 67 Mẫu 2-PNT, Đ51; NĐ 67; greensm.com, pvi.com.vn, help.shopee.vn</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Kênh &amp; đối tác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kênh → 3 nhóm báo cáo; đối tác ẩn danh + 3 đối tác số thật: Green SM, ATADI, Fuse</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Luật KDBH Đ87 k4; TT 67 Mẫu 3-PNT; BCTN PVI 2024 tr.29; tin PVI Digital</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Đơn vị</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Tổng Công ty Bảo hiểm PVI → Trụ sở chính, PVI Digital + 46 đơn vị (47 đơn vị thật)</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pvi.com.vn/vi/network; BCTN 2024 tr.12; trọng số doanh thu: ước tính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Khách hàng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1.696.375 khách, 6 phân khúc; 'khách lẻ theo bảng kê' cho đơn lô</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Phân khúc theo loại chủ thể giao kết — giả định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Loại giao dịch</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loại, dấu ±, tài khoản 5111 / 5311 / 5321, mã ACORD</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NĐ 46 Đ49 k3; TT 232/2012; ACORD</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Địa bàn &amp; tỷ giá</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34 tỉnh, 3 miền; tỷ giá USD theo tháng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NQ 202/2025; KBNN 2025 (2024 nội suy — giả định)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Đồng BH &amp; phân bổ</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DNBH (Bảo hiểm PVI + 6 DN ẩn danh); 3 kiểu phân bổ</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Luật KDBH Đ4 k29; TT 232 Đ19; thông lệ quản trị</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vbpl.vn (Luật KDBH, NĐ 46, NĐ 67, TT 67, TT 232, NQ 202); BCTN PVI 2024 — trang 12, 29; pvi.com.vn/vi/network; greensm.com; help.shopee.vn (bài 79225).</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loại giao dịch và cách tính doanh thu</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1371600"/>
                <a:gridCol w="2926080"/>
                <a:gridCol w="1005840"/>
                <a:gridCol w="1097280"/>
              </a:tblGrid>
              <a:tr h="365760">
                <a:tc>
                  <a:txBody>
                    <a:bodyPr/>
                    <a:lstStyle/>
                    <a:p>
                      <a:pPr indent="0" marL="0">
                        <a:buNone/>
                      </a:pPr>
                      <a:r>
                        <a:rPr lang="en-US" sz="1300" b="1" dirty="0">
                          <a:solidFill>
                            <a:srgbClr val="FFFFFF"/>
                          </a:solidFill>
                        </a:rPr>
                        <a:t>Loại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Ý nghĩa</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Dấu · TK</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algn="r" indent="0" marL="0">
                        <a:buNone/>
                      </a:pPr>
                      <a:r>
                        <a:rPr lang="en-US" sz="1300" b="1" dirty="0">
                          <a:solidFill>
                            <a:srgbClr val="FFFFFF"/>
                          </a:solidFill>
                        </a:rPr>
                        <a:t>Số GD</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NEW</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Cấp mới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3.909.726</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RENEW</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Tái tục (HĐ cũ ở prev_policy_no)</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172.911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END_INC</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tăng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2.597</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END_DEC</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giảm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5321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1.336</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REFUND</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Hoàn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1.145</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CANCEL</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Hủy, hoàn phí thời gian còn lại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7.259</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36576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END_NOCHG</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không đổi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0</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3.427</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4279392"/>
            <a:ext cx="6400800" cy="384048"/>
          </a:xfrm>
          <a:prstGeom prst="rect">
            <a:avLst/>
          </a:prstGeom>
          <a:noFill/>
          <a:ln/>
        </p:spPr>
        <p:txBody>
          <a:bodyPr wrap="square" lIns="0" tIns="0" rIns="0" bIns="0" rtlCol="0" anchor="t"/>
          <a:lstStyle/>
          <a:p>
            <a:pPr indent="0" marL="0">
              <a:buNone/>
            </a:pPr>
            <a:r>
              <a:rPr lang="en-US" sz="1100" dirty="0">
                <a:solidFill>
                  <a:srgbClr val="5B6673"/>
                </a:solidFill>
              </a:rPr>
              <a:t>Trạng thái: 4.047.266 đã duyệt · 34.744 chờ duyệt (dồn 5 ngày cuối kỳ) · 16.391 hủy chứng từ — chỉ chứng từ đã duyệt được tính doanh thu.</a:t>
            </a:r>
            <a:endParaRPr lang="en-US" sz="11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48640" y="4681728"/>
          <a:ext cx="6400800" cy="914400"/>
        </p:xfrm>
        <a:graphic>
          <a:graphicData uri="http://schemas.openxmlformats.org/drawingml/2006/table">
            <a:tbl>
              <a:tblPr/>
              <a:tblGrid>
                <a:gridCol w="3566160"/>
                <a:gridCol w="1097280"/>
                <a:gridCol w="731520"/>
                <a:gridCol w="1005840"/>
              </a:tblGrid>
              <a:tr h="228600">
                <a:tc>
                  <a:txBody>
                    <a:bodyPr/>
                    <a:lstStyle/>
                    <a:p>
                      <a:pPr algn="l" indent="0" marL="0">
                        <a:buNone/>
                      </a:pPr>
                      <a:r>
                        <a:rPr lang="en-US" sz="1100" b="1" dirty="0">
                          <a:solidFill>
                            <a:srgbClr val="FFFFFF"/>
                          </a:solidFill>
                        </a:rPr>
                        <a:t>Vi mô: 77,3% số HĐ, 1,32% doanh thu</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C2551E"/>
                    </a:solidFill>
                  </a:tcPr>
                </a:tc>
                <a:tc>
                  <a:txBody>
                    <a:bodyPr/>
                    <a:lstStyle/>
                    <a:p>
                      <a:pPr algn="r" indent="0" marL="0">
                        <a:buNone/>
                      </a:pPr>
                      <a:r>
                        <a:rPr lang="en-US" sz="1100" b="1" dirty="0">
                          <a:solidFill>
                            <a:srgbClr val="FFFFFF"/>
                          </a:solidFill>
                        </a:rPr>
                        <a:t>GCN</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C2551E"/>
                    </a:solidFill>
                  </a:tcPr>
                </a:tc>
                <a:tc>
                  <a:txBody>
                    <a:bodyPr/>
                    <a:lstStyle/>
                    <a:p>
                      <a:pPr algn="r" indent="0" marL="0">
                        <a:buNone/>
                      </a:pPr>
                      <a:r>
                        <a:rPr lang="en-US" sz="1100" b="1" dirty="0">
                          <a:solidFill>
                            <a:srgbClr val="FFFFFF"/>
                          </a:solidFill>
                        </a:rPr>
                        <a:t>Tỷ đ</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C2551E"/>
                    </a:solidFill>
                  </a:tcPr>
                </a:tc>
                <a:tc>
                  <a:txBody>
                    <a:bodyPr/>
                    <a:lstStyle/>
                    <a:p>
                      <a:pPr algn="r" indent="0" marL="0">
                        <a:buNone/>
                      </a:pPr>
                      <a:r>
                        <a:rPr lang="en-US" sz="1100" b="1" dirty="0">
                          <a:solidFill>
                            <a:srgbClr val="FFFFFF"/>
                          </a:solidFill>
                        </a:rPr>
                        <a:t>đ/GCN</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C2551E"/>
                    </a:solidFill>
                  </a:tcPr>
                </a:tc>
              </a:tr>
              <a:tr h="228600">
                <a:tc>
                  <a:txBody>
                    <a:bodyPr/>
                    <a:lstStyle/>
                    <a:p>
                      <a:pPr indent="0" marL="0">
                        <a:buNone/>
                      </a:pPr>
                      <a:r>
                        <a:rPr lang="en-US" sz="1100" dirty="0">
                          <a:solidFill>
                            <a:srgbClr val="1B2430"/>
                          </a:solidFill>
                        </a:rPr>
                        <a:t>Green SM Care · Green SM · PVI Digital</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2.431.497</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3,36</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1.383</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228600">
                <a:tc>
                  <a:txBody>
                    <a:bodyPr/>
                    <a:lstStyle/>
                    <a:p>
                      <a:pPr indent="0" marL="0">
                        <a:buNone/>
                      </a:pPr>
                      <a:r>
                        <a:rPr lang="en-US" sz="1100" dirty="0">
                          <a:solidFill>
                            <a:srgbClr val="1B2430"/>
                          </a:solidFill>
                        </a:rPr>
                        <a:t>Food Care · Green SM · PVI Digital</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516.750</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0,51</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988</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228600">
                <a:tc>
                  <a:txBody>
                    <a:bodyPr/>
                    <a:lstStyle/>
                    <a:p>
                      <a:pPr indent="0" marL="0">
                        <a:buNone/>
                      </a:pPr>
                      <a:r>
                        <a:rPr lang="en-US" sz="1100" dirty="0">
                          <a:solidFill>
                            <a:srgbClr val="1B2430"/>
                          </a:solidFill>
                        </a:rPr>
                        <a:t>Thiết bị điện tử TMĐT · Fuse · PVI Digital</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194.993</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16,35</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83.837</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228600">
                <a:tc>
                  <a:txBody>
                    <a:bodyPr/>
                    <a:lstStyle/>
                    <a:p>
                      <a:pPr indent="0" marL="0">
                        <a:buNone/>
                      </a:pPr>
                      <a:r>
                        <a:rPr lang="en-US" sz="1100" dirty="0">
                          <a:solidFill>
                            <a:srgbClr val="1B2430"/>
                          </a:solidFill>
                        </a:rPr>
                        <a:t>DelayCare (từ 20/8) · ATADI · PVI Thủ Đô</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12.749</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0,62</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100" dirty="0">
                          <a:solidFill>
                            <a:srgbClr val="1B2430"/>
                          </a:solidFill>
                        </a:rPr>
                        <a:t>48.739</a:t>
                      </a:r>
                      <a:endParaRPr lang="en-US" sz="1100" dirty="0"/>
                    </a:p>
                  </a:txBody>
                  <a:tcPr marL="73152" marR="73152"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7" name="card"/>
          <p:cNvSpPr/>
          <p:nvPr/>
        </p:nvSpPr>
        <p:spPr>
          <a:xfrm>
            <a:off x="7315200" y="1280160"/>
            <a:ext cx="4297680" cy="4343400"/>
          </a:xfrm>
          <a:prstGeom prst="roundRect">
            <a:avLst>
              <a:gd name="adj" fmla="val 255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3"/>
          <p:cNvSpPr txBox="1"/>
          <p:nvPr/>
        </p:nvSpPr>
        <p:spPr>
          <a:xfrm>
            <a:off x="7589520" y="1417320"/>
            <a:ext cx="3749040" cy="411480"/>
          </a:xfrm>
          <a:prstGeom prst="rect">
            <a:avLst/>
          </a:prstGeom>
          <a:noFill/>
          <a:ln/>
        </p:spPr>
        <p:txBody>
          <a:bodyPr wrap="square" lIns="0" tIns="0" rIns="0" bIns="0" rtlCol="0" anchor="t"/>
          <a:lstStyle/>
          <a:p>
            <a:pPr indent="0" marL="0">
              <a:buNone/>
            </a:pPr>
            <a:r>
              <a:rPr lang="en-US" sz="1700" b="1" dirty="0">
                <a:solidFill>
                  <a:schemeClr val="tx2"/>
                </a:solidFill>
              </a:rPr>
              <a:t>Doanh thu =</a:t>
            </a:r>
            <a:endParaRPr lang="en-US" sz="1700" dirty="0"/>
          </a:p>
        </p:txBody>
      </p:sp>
      <p:sp>
        <p:nvSpPr>
          <p:cNvPr id="9" name="Phí 100% hợp đồng"/>
          <p:cNvSpPr/>
          <p:nvPr/>
        </p:nvSpPr>
        <p:spPr>
          <a:xfrm>
            <a:off x="7589520" y="1874520"/>
            <a:ext cx="3749040" cy="566928"/>
          </a:xfrm>
          <a:prstGeom prst="roundRect">
            <a:avLst>
              <a:gd name="adj" fmla="val 12903"/>
            </a:avLst>
          </a:prstGeom>
          <a:solidFill>
            <a:schemeClr val="accent1"/>
          </a:solidFill>
          <a:ln w="12700">
            <a:solidFill>
              <a:schemeClr val="accent1"/>
            </a:solidFill>
            <a:prstDash val="solid"/>
          </a:ln>
        </p:spPr>
      </p:sp>
      <p:sp>
        <p:nvSpPr>
          <p:cNvPr id="10" name="Text 5"/>
          <p:cNvSpPr txBox="1"/>
          <p:nvPr/>
        </p:nvSpPr>
        <p:spPr>
          <a:xfrm>
            <a:off x="7726680" y="18745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Phí 100% hợp đồng  </a:t>
            </a:r>
            <a:pPr indent="0" marL="0">
              <a:buNone/>
            </a:pPr>
            <a:r>
              <a:rPr lang="en-US" sz="1200" dirty="0">
                <a:solidFill>
                  <a:schemeClr val="bg1"/>
                </a:solidFill>
              </a:rPr>
              <a:t>VND, chưa VAT</a:t>
            </a:r>
            <a:endParaRPr lang="en-US" sz="1500" dirty="0"/>
          </a:p>
        </p:txBody>
      </p:sp>
      <p:sp>
        <p:nvSpPr>
          <p:cNvPr id="11" name="× phần của công ty"/>
          <p:cNvSpPr/>
          <p:nvPr/>
        </p:nvSpPr>
        <p:spPr>
          <a:xfrm>
            <a:off x="7589520" y="2560320"/>
            <a:ext cx="3749040" cy="566928"/>
          </a:xfrm>
          <a:prstGeom prst="roundRect">
            <a:avLst>
              <a:gd name="adj" fmla="val 12903"/>
            </a:avLst>
          </a:prstGeom>
          <a:solidFill>
            <a:schemeClr val="accent3"/>
          </a:solidFill>
          <a:ln w="12700">
            <a:solidFill>
              <a:schemeClr val="accent3"/>
            </a:solidFill>
            <a:prstDash val="solid"/>
          </a:ln>
        </p:spPr>
      </p:sp>
      <p:sp>
        <p:nvSpPr>
          <p:cNvPr id="12" name="Text 7"/>
          <p:cNvSpPr txBox="1"/>
          <p:nvPr/>
        </p:nvSpPr>
        <p:spPr>
          <a:xfrm>
            <a:off x="7726680" y="25603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 phần của công ty  </a:t>
            </a:r>
            <a:pPr indent="0" marL="0">
              <a:buNone/>
            </a:pPr>
            <a:r>
              <a:rPr lang="en-US" sz="1200" dirty="0">
                <a:solidFill>
                  <a:schemeClr val="bg1"/>
                </a:solidFill>
              </a:rPr>
              <a:t>khi đồng bảo hiểm</a:t>
            </a:r>
            <a:endParaRPr lang="en-US" sz="1500" dirty="0"/>
          </a:p>
        </p:txBody>
      </p:sp>
      <p:sp>
        <p:nvSpPr>
          <p:cNvPr id="13" name="× tỷ lệ phân bổ"/>
          <p:cNvSpPr/>
          <p:nvPr/>
        </p:nvSpPr>
        <p:spPr>
          <a:xfrm>
            <a:off x="7589520" y="3246120"/>
            <a:ext cx="3749040" cy="566928"/>
          </a:xfrm>
          <a:prstGeom prst="roundRect">
            <a:avLst>
              <a:gd name="adj" fmla="val 12903"/>
            </a:avLst>
          </a:prstGeom>
          <a:solidFill>
            <a:schemeClr val="accent4"/>
          </a:solidFill>
          <a:ln w="12700">
            <a:solidFill>
              <a:schemeClr val="accent4"/>
            </a:solidFill>
            <a:prstDash val="solid"/>
          </a:ln>
        </p:spPr>
      </p:sp>
      <p:sp>
        <p:nvSpPr>
          <p:cNvPr id="14" name="Text 9"/>
          <p:cNvSpPr txBox="1"/>
          <p:nvPr/>
        </p:nvSpPr>
        <p:spPr>
          <a:xfrm>
            <a:off x="7726680" y="32461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 tỷ lệ phân bổ  </a:t>
            </a:r>
            <a:pPr indent="0" marL="0">
              <a:buNone/>
            </a:pPr>
            <a:r>
              <a:rPr lang="en-US" sz="1200" dirty="0">
                <a:solidFill>
                  <a:schemeClr val="bg1"/>
                </a:solidFill>
              </a:rPr>
              <a:t>cho đơn vị</a:t>
            </a:r>
            <a:endParaRPr lang="en-US" sz="1500" dirty="0"/>
          </a:p>
        </p:txBody>
      </p:sp>
      <p:sp>
        <p:nvSpPr>
          <p:cNvPr id="15" name="Text 10"/>
          <p:cNvSpPr txBox="1"/>
          <p:nvPr/>
        </p:nvSpPr>
        <p:spPr>
          <a:xfrm>
            <a:off x="7589520" y="3977640"/>
            <a:ext cx="384048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Chỉ chứng từ đã duyệt</a:t>
            </a:r>
            <a:endParaRPr lang="en-US" sz="1200" dirty="0"/>
          </a:p>
          <a:p>
            <a:pPr marL="342900" indent="-342900">
              <a:spcAft>
                <a:spcPts val="400"/>
              </a:spcAft>
              <a:buSzPct val="100000"/>
              <a:buChar char="•"/>
            </a:pPr>
            <a:r>
              <a:rPr lang="en-US" sz="1200" dirty="0">
                <a:solidFill>
                  <a:schemeClr val="tx1"/>
                </a:solidFill>
              </a:rPr>
              <a:t>Ghi nhận khi phát sinh trách nhiệm: ngày muộn hơn giữa ngày cấp và ngày hiệu lực (TT 67 Đ41)</a:t>
            </a:r>
            <a:endParaRPr lang="en-US" sz="1200" dirty="0"/>
          </a:p>
          <a:p>
            <a:pPr marL="342900" indent="-342900">
              <a:spcAft>
                <a:spcPts val="400"/>
              </a:spcAft>
              <a:buSzPct val="100000"/>
              <a:buChar char="•"/>
            </a:pPr>
            <a:r>
              <a:rPr lang="en-US" sz="1200" dirty="0">
                <a:solidFill>
                  <a:schemeClr val="tx1"/>
                </a:solidFill>
              </a:rPr>
              <a:t>Hoàn, giảm, hủy: số âm vào kỳ phát sinh (NĐ 46 Đ49)</a:t>
            </a:r>
            <a:endParaRPr lang="en-US" sz="1200" dirty="0"/>
          </a:p>
          <a:p>
            <a:pPr marL="342900" indent="-342900">
              <a:spcAft>
                <a:spcPts val="400"/>
              </a:spcAft>
              <a:buSzPct val="100000"/>
              <a:buChar char="•"/>
            </a:pPr>
            <a:r>
              <a:rPr lang="en-US" sz="1200" dirty="0">
                <a:solidFill>
                  <a:schemeClr val="tx1"/>
                </a:solidFill>
              </a:rPr>
              <a:t>Đồng BH: chỉ phần của mình (TT 232 Đ19)</a:t>
            </a:r>
            <a:endParaRPr lang="en-US" sz="1200" dirty="0"/>
          </a:p>
        </p:txBody>
      </p:sp>
      <p:sp>
        <p:nvSpPr>
          <p:cNvPr id="16" name="Text 11"/>
          <p:cNvSpPr txBox="1"/>
          <p:nvPr/>
        </p:nvSpPr>
        <p:spPr>
          <a:xfrm>
            <a:off x="548640" y="5925312"/>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NĐ 46/2023 Đ49 k3; TT 232/2012; TT 67/2023 Đ41; ACORD (NBS / RWL / PCH / XLC); vi mô: greensm.com, pvi.com.vn (DelayCare), help.shopee.vn; số đo: bronze.ins_*.</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Cơ chế sinh và vì sao doanh thu tháng 8–9 là 1.578 tỷ</a:t>
            </a:r>
            <a:endParaRPr lang="en-US" sz="3000" dirty="0"/>
          </a:p>
        </p:txBody>
      </p:sp>
      <p:sp>
        <p:nvSpPr>
          <p:cNvPr id="4" name="step 1"/>
          <p:cNvSpPr/>
          <p:nvPr/>
        </p:nvSpPr>
        <p:spPr>
          <a:xfrm>
            <a:off x="548640"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658368" y="138988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58368"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097280"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Ngân sách</a:t>
            </a:r>
            <a:endParaRPr lang="en-US" sz="1250" dirty="0"/>
          </a:p>
        </p:txBody>
      </p:sp>
      <p:sp>
        <p:nvSpPr>
          <p:cNvPr id="8" name="Text 5"/>
          <p:cNvSpPr txBox="1"/>
          <p:nvPr/>
        </p:nvSpPr>
        <p:spPr>
          <a:xfrm>
            <a:off x="685800"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BCTC PVI × tỷ trọng tháng</a:t>
            </a:r>
            <a:endParaRPr lang="en-US" sz="1200" dirty="0"/>
          </a:p>
        </p:txBody>
      </p:sp>
      <p:sp>
        <p:nvSpPr>
          <p:cNvPr id="9" name="step 2"/>
          <p:cNvSpPr/>
          <p:nvPr/>
        </p:nvSpPr>
        <p:spPr>
          <a:xfrm>
            <a:off x="2432304"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badge 2"/>
          <p:cNvSpPr/>
          <p:nvPr/>
        </p:nvSpPr>
        <p:spPr>
          <a:xfrm>
            <a:off x="2542032" y="138988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2542032"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2980944"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Số đơn</a:t>
            </a:r>
            <a:endParaRPr lang="en-US" sz="1250" dirty="0"/>
          </a:p>
        </p:txBody>
      </p:sp>
      <p:sp>
        <p:nvSpPr>
          <p:cNvPr id="13" name="Text 10"/>
          <p:cNvSpPr txBox="1"/>
          <p:nvPr/>
        </p:nvSpPr>
        <p:spPr>
          <a:xfrm>
            <a:off x="2569464"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ngân sách ÷ đơn giá; vi mô theo ngày</a:t>
            </a:r>
            <a:endParaRPr lang="en-US" sz="1200" dirty="0"/>
          </a:p>
        </p:txBody>
      </p:sp>
      <p:sp>
        <p:nvSpPr>
          <p:cNvPr id="14" name="step 3"/>
          <p:cNvSpPr/>
          <p:nvPr/>
        </p:nvSpPr>
        <p:spPr>
          <a:xfrm>
            <a:off x="4315968"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badge 3"/>
          <p:cNvSpPr/>
          <p:nvPr/>
        </p:nvSpPr>
        <p:spPr>
          <a:xfrm>
            <a:off x="4425696" y="1389888"/>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4425696"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4864608"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Sinh hợp đồng</a:t>
            </a:r>
            <a:endParaRPr lang="en-US" sz="1250" dirty="0"/>
          </a:p>
        </p:txBody>
      </p:sp>
      <p:sp>
        <p:nvSpPr>
          <p:cNvPr id="18" name="Text 15"/>
          <p:cNvSpPr txBox="1"/>
          <p:nvPr/>
        </p:nvSpPr>
        <p:spPr>
          <a:xfrm>
            <a:off x="4453128"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theo dáng sản phẩm</a:t>
            </a:r>
            <a:endParaRPr lang="en-US" sz="1200" dirty="0"/>
          </a:p>
        </p:txBody>
      </p:sp>
      <p:sp>
        <p:nvSpPr>
          <p:cNvPr id="19" name="step 4"/>
          <p:cNvSpPr/>
          <p:nvPr/>
        </p:nvSpPr>
        <p:spPr>
          <a:xfrm>
            <a:off x="6199632" y="1280160"/>
            <a:ext cx="1700784" cy="1234440"/>
          </a:xfrm>
          <a:prstGeom prst="roundRect">
            <a:avLst>
              <a:gd name="adj" fmla="val 8889"/>
            </a:avLst>
          </a:prstGeom>
          <a:solidFill>
            <a:srgbClr val="FBE9DF"/>
          </a:solidFill>
          <a:ln w="12700">
            <a:solidFill>
              <a:srgbClr val="FBE9DF"/>
            </a:solidFill>
            <a:prstDash val="solid"/>
          </a:ln>
          <a:effectLst>
            <a:outerShdw sx="100000" sy="100000" kx="0" ky="0" algn="bl" rotWithShape="0" blurRad="76200" dist="25400" dir="5400000">
              <a:srgbClr val="000000">
                <a:alpha val="12000"/>
              </a:srgbClr>
            </a:outerShdw>
          </a:effectLst>
        </p:spPr>
      </p:sp>
      <p:sp>
        <p:nvSpPr>
          <p:cNvPr id="20" name="badge 4"/>
          <p:cNvSpPr/>
          <p:nvPr/>
        </p:nvSpPr>
        <p:spPr>
          <a:xfrm>
            <a:off x="6309360" y="1389888"/>
            <a:ext cx="384048" cy="384048"/>
          </a:xfrm>
          <a:prstGeom prst="ellipse">
            <a:avLst/>
          </a:prstGeom>
          <a:solidFill>
            <a:schemeClr val="accent2"/>
          </a:solidFill>
          <a:ln w="12700">
            <a:solidFill>
              <a:schemeClr val="accent2"/>
            </a:solidFill>
            <a:prstDash val="solid"/>
          </a:ln>
        </p:spPr>
      </p:sp>
      <p:sp>
        <p:nvSpPr>
          <p:cNvPr id="21" name="Text 18"/>
          <p:cNvSpPr txBox="1"/>
          <p:nvPr/>
        </p:nvSpPr>
        <p:spPr>
          <a:xfrm>
            <a:off x="6309360"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6748272"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Hiệu chỉnh</a:t>
            </a:r>
            <a:endParaRPr lang="en-US" sz="1250" dirty="0"/>
          </a:p>
        </p:txBody>
      </p:sp>
      <p:sp>
        <p:nvSpPr>
          <p:cNvPr id="23" name="Text 20"/>
          <p:cNvSpPr txBox="1"/>
          <p:nvPr/>
        </p:nvSpPr>
        <p:spPr>
          <a:xfrm>
            <a:off x="6336792"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khớp ngân sách</a:t>
            </a:r>
            <a:endParaRPr lang="en-US" sz="1200" dirty="0"/>
          </a:p>
        </p:txBody>
      </p:sp>
      <p:sp>
        <p:nvSpPr>
          <p:cNvPr id="24" name="step 5"/>
          <p:cNvSpPr/>
          <p:nvPr/>
        </p:nvSpPr>
        <p:spPr>
          <a:xfrm>
            <a:off x="8083296"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badge 5"/>
          <p:cNvSpPr/>
          <p:nvPr/>
        </p:nvSpPr>
        <p:spPr>
          <a:xfrm>
            <a:off x="8193024" y="1389888"/>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8193024"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8631936"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Tái tục &amp; SĐBS</a:t>
            </a:r>
            <a:endParaRPr lang="en-US" sz="1250" dirty="0"/>
          </a:p>
        </p:txBody>
      </p:sp>
      <p:sp>
        <p:nvSpPr>
          <p:cNvPr id="28" name="Text 25"/>
          <p:cNvSpPr txBox="1"/>
          <p:nvPr/>
        </p:nvSpPr>
        <p:spPr>
          <a:xfrm>
            <a:off x="8220456"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theo sản phẩm</a:t>
            </a:r>
            <a:endParaRPr lang="en-US" sz="1200" dirty="0"/>
          </a:p>
        </p:txBody>
      </p:sp>
      <p:sp>
        <p:nvSpPr>
          <p:cNvPr id="29" name="step 6"/>
          <p:cNvSpPr/>
          <p:nvPr/>
        </p:nvSpPr>
        <p:spPr>
          <a:xfrm>
            <a:off x="9966960"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badge 6"/>
          <p:cNvSpPr/>
          <p:nvPr/>
        </p:nvSpPr>
        <p:spPr>
          <a:xfrm>
            <a:off x="10076688" y="1389888"/>
            <a:ext cx="384048" cy="384048"/>
          </a:xfrm>
          <a:prstGeom prst="ellipse">
            <a:avLst/>
          </a:prstGeom>
          <a:solidFill>
            <a:schemeClr val="accent1"/>
          </a:solidFill>
          <a:ln w="12700">
            <a:solidFill>
              <a:schemeClr val="accent1"/>
            </a:solidFill>
            <a:prstDash val="solid"/>
          </a:ln>
        </p:spPr>
      </p:sp>
      <p:sp>
        <p:nvSpPr>
          <p:cNvPr id="31" name="Text 28"/>
          <p:cNvSpPr txBox="1"/>
          <p:nvPr/>
        </p:nvSpPr>
        <p:spPr>
          <a:xfrm>
            <a:off x="10076688"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29"/>
          <p:cNvSpPr txBox="1"/>
          <p:nvPr/>
        </p:nvSpPr>
        <p:spPr>
          <a:xfrm>
            <a:off x="10515600"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Kiểm tra &amp; nạp</a:t>
            </a:r>
            <a:endParaRPr lang="en-US" sz="1250" dirty="0"/>
          </a:p>
        </p:txBody>
      </p:sp>
      <p:sp>
        <p:nvSpPr>
          <p:cNvPr id="33" name="Text 30"/>
          <p:cNvSpPr txBox="1"/>
          <p:nvPr/>
        </p:nvSpPr>
        <p:spPr>
          <a:xfrm>
            <a:off x="10104120"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reportapi</a:t>
            </a:r>
            <a:endParaRPr lang="en-US" sz="1200" dirty="0"/>
          </a:p>
        </p:txBody>
      </p:sp>
      <p:sp>
        <p:nvSpPr>
          <p:cNvPr id="34" name="Mục tiêu năm (BCTC PVI)"/>
          <p:cNvSpPr/>
          <p:nvPr/>
        </p:nvSpPr>
        <p:spPr>
          <a:xfrm>
            <a:off x="548640" y="2834640"/>
            <a:ext cx="1920240" cy="960120"/>
          </a:xfrm>
          <a:prstGeom prst="roundRect">
            <a:avLst>
              <a:gd name="adj" fmla="val 9524"/>
            </a:avLst>
          </a:prstGeom>
          <a:solidFill>
            <a:schemeClr val="accent3"/>
          </a:solidFill>
          <a:ln w="12700">
            <a:solidFill>
              <a:schemeClr val="accent3"/>
            </a:solidFill>
            <a:prstDash val="solid"/>
          </a:ln>
        </p:spPr>
      </p:sp>
      <p:sp>
        <p:nvSpPr>
          <p:cNvPr id="35" name="Text 32"/>
          <p:cNvSpPr txBox="1"/>
          <p:nvPr/>
        </p:nvSpPr>
        <p:spPr>
          <a:xfrm>
            <a:off x="640080"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10.377,9</a:t>
            </a:r>
            <a:endParaRPr lang="en-US" sz="1500" dirty="0"/>
          </a:p>
          <a:p>
            <a:pPr algn="ctr" indent="0" marL="0">
              <a:buNone/>
            </a:pPr>
            <a:r>
              <a:rPr lang="en-US" sz="1200" dirty="0">
                <a:solidFill>
                  <a:schemeClr val="bg1"/>
                </a:solidFill>
              </a:rPr>
              <a:t>Mục tiêu năm (BCTC PVI)</a:t>
            </a:r>
            <a:endParaRPr lang="en-US" sz="1500" dirty="0"/>
          </a:p>
        </p:txBody>
      </p:sp>
      <p:sp>
        <p:nvSpPr>
          <p:cNvPr id="36" name="Text 33"/>
          <p:cNvSpPr txBox="1"/>
          <p:nvPr/>
        </p:nvSpPr>
        <p:spPr>
          <a:xfrm>
            <a:off x="2468880"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37" name="Tỷ trọng T8 + T9"/>
          <p:cNvSpPr/>
          <p:nvPr/>
        </p:nvSpPr>
        <p:spPr>
          <a:xfrm>
            <a:off x="2761488" y="2834640"/>
            <a:ext cx="1920240" cy="960120"/>
          </a:xfrm>
          <a:prstGeom prst="roundRect">
            <a:avLst>
              <a:gd name="adj" fmla="val 9524"/>
            </a:avLst>
          </a:prstGeom>
          <a:solidFill>
            <a:schemeClr val="accent4"/>
          </a:solidFill>
          <a:ln w="12700">
            <a:solidFill>
              <a:schemeClr val="accent4"/>
            </a:solidFill>
            <a:prstDash val="solid"/>
          </a:ln>
        </p:spPr>
      </p:sp>
      <p:sp>
        <p:nvSpPr>
          <p:cNvPr id="38" name="Text 35"/>
          <p:cNvSpPr txBox="1"/>
          <p:nvPr/>
        </p:nvSpPr>
        <p:spPr>
          <a:xfrm>
            <a:off x="2852928"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15,44%</a:t>
            </a:r>
            <a:endParaRPr lang="en-US" sz="1500" dirty="0"/>
          </a:p>
          <a:p>
            <a:pPr algn="ctr" indent="0" marL="0">
              <a:buNone/>
            </a:pPr>
            <a:r>
              <a:rPr lang="en-US" sz="1200" dirty="0">
                <a:solidFill>
                  <a:schemeClr val="bg1"/>
                </a:solidFill>
              </a:rPr>
              <a:t>Tỷ trọng T8 + T9</a:t>
            </a:r>
            <a:endParaRPr lang="en-US" sz="1500" dirty="0"/>
          </a:p>
        </p:txBody>
      </p:sp>
      <p:sp>
        <p:nvSpPr>
          <p:cNvPr id="39" name="Text 36"/>
          <p:cNvSpPr txBox="1"/>
          <p:nvPr/>
        </p:nvSpPr>
        <p:spPr>
          <a:xfrm>
            <a:off x="4681728"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40" name="Ngân sách PVI 2 tháng"/>
          <p:cNvSpPr/>
          <p:nvPr/>
        </p:nvSpPr>
        <p:spPr>
          <a:xfrm>
            <a:off x="4974336" y="2834640"/>
            <a:ext cx="1920240" cy="960120"/>
          </a:xfrm>
          <a:prstGeom prst="roundRect">
            <a:avLst>
              <a:gd name="adj" fmla="val 9524"/>
            </a:avLst>
          </a:prstGeom>
          <a:solidFill>
            <a:schemeClr val="accent3"/>
          </a:solidFill>
          <a:ln w="12700">
            <a:solidFill>
              <a:schemeClr val="accent3"/>
            </a:solidFill>
            <a:prstDash val="solid"/>
          </a:ln>
        </p:spPr>
      </p:sp>
      <p:sp>
        <p:nvSpPr>
          <p:cNvPr id="41" name="Text 38"/>
          <p:cNvSpPr txBox="1"/>
          <p:nvPr/>
        </p:nvSpPr>
        <p:spPr>
          <a:xfrm>
            <a:off x="5065776"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1.602,2</a:t>
            </a:r>
            <a:endParaRPr lang="en-US" sz="1500" dirty="0"/>
          </a:p>
          <a:p>
            <a:pPr algn="ctr" indent="0" marL="0">
              <a:buNone/>
            </a:pPr>
            <a:r>
              <a:rPr lang="en-US" sz="1200" dirty="0">
                <a:solidFill>
                  <a:schemeClr val="bg1"/>
                </a:solidFill>
              </a:rPr>
              <a:t>Ngân sách PVI 2 tháng</a:t>
            </a:r>
            <a:endParaRPr lang="en-US" sz="1500" dirty="0"/>
          </a:p>
        </p:txBody>
      </p:sp>
      <p:sp>
        <p:nvSpPr>
          <p:cNvPr id="42" name="Text 39"/>
          <p:cNvSpPr txBox="1"/>
          <p:nvPr/>
        </p:nvSpPr>
        <p:spPr>
          <a:xfrm>
            <a:off x="6894576"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43" name="Phí gốc khai thác trên DB"/>
          <p:cNvSpPr/>
          <p:nvPr/>
        </p:nvSpPr>
        <p:spPr>
          <a:xfrm>
            <a:off x="7187184" y="2834640"/>
            <a:ext cx="1920240" cy="960120"/>
          </a:xfrm>
          <a:prstGeom prst="roundRect">
            <a:avLst>
              <a:gd name="adj" fmla="val 9524"/>
            </a:avLst>
          </a:prstGeom>
          <a:solidFill>
            <a:schemeClr val="accent1"/>
          </a:solidFill>
          <a:ln w="12700">
            <a:solidFill>
              <a:schemeClr val="accent1"/>
            </a:solidFill>
            <a:prstDash val="solid"/>
          </a:ln>
        </p:spPr>
      </p:sp>
      <p:sp>
        <p:nvSpPr>
          <p:cNvPr id="44" name="Text 41"/>
          <p:cNvSpPr txBox="1"/>
          <p:nvPr/>
        </p:nvSpPr>
        <p:spPr>
          <a:xfrm>
            <a:off x="7278624"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1.600,6</a:t>
            </a:r>
            <a:endParaRPr lang="en-US" sz="1500" dirty="0"/>
          </a:p>
          <a:p>
            <a:pPr algn="ctr" indent="0" marL="0">
              <a:buNone/>
            </a:pPr>
            <a:r>
              <a:rPr lang="en-US" sz="1200" dirty="0">
                <a:solidFill>
                  <a:schemeClr val="bg1"/>
                </a:solidFill>
              </a:rPr>
              <a:t>Phí gốc khai thác trên DB</a:t>
            </a:r>
            <a:endParaRPr lang="en-US" sz="1500" dirty="0"/>
          </a:p>
        </p:txBody>
      </p:sp>
      <p:sp>
        <p:nvSpPr>
          <p:cNvPr id="45" name="GCN vi mô/ngày (≈ 1,3% DT)"/>
          <p:cNvSpPr/>
          <p:nvPr/>
        </p:nvSpPr>
        <p:spPr>
          <a:xfrm>
            <a:off x="9400032" y="2834640"/>
            <a:ext cx="1920240" cy="960120"/>
          </a:xfrm>
          <a:prstGeom prst="roundRect">
            <a:avLst>
              <a:gd name="adj" fmla="val 9524"/>
            </a:avLst>
          </a:prstGeom>
          <a:solidFill>
            <a:schemeClr val="accent2"/>
          </a:solidFill>
          <a:ln w="12700">
            <a:solidFill>
              <a:schemeClr val="accent2"/>
            </a:solidFill>
            <a:prstDash val="solid"/>
          </a:ln>
        </p:spPr>
      </p:sp>
      <p:sp>
        <p:nvSpPr>
          <p:cNvPr id="46" name="Text 43"/>
          <p:cNvSpPr txBox="1"/>
          <p:nvPr/>
        </p:nvSpPr>
        <p:spPr>
          <a:xfrm>
            <a:off x="9491472"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 51.000</a:t>
            </a:r>
            <a:endParaRPr lang="en-US" sz="1500" dirty="0"/>
          </a:p>
          <a:p>
            <a:pPr algn="ctr" indent="0" marL="0">
              <a:buNone/>
            </a:pPr>
            <a:r>
              <a:rPr lang="en-US" sz="1200" dirty="0">
                <a:solidFill>
                  <a:schemeClr val="bg1"/>
                </a:solidFill>
              </a:rPr>
              <a:t>GCN vi mô/ngày (≈ 1,3% DT)</a:t>
            </a:r>
            <a:endParaRPr lang="en-US" sz="1500" dirty="0"/>
          </a:p>
        </p:txBody>
      </p:sp>
      <p:sp>
        <p:nvSpPr>
          <p:cNvPr id="47" name="Text 44"/>
          <p:cNvSpPr txBox="1"/>
          <p:nvPr/>
        </p:nvSpPr>
        <p:spPr>
          <a:xfrm>
            <a:off x="548640" y="4069080"/>
            <a:ext cx="1645920" cy="411480"/>
          </a:xfrm>
          <a:prstGeom prst="rect">
            <a:avLst/>
          </a:prstGeom>
          <a:noFill/>
          <a:ln/>
        </p:spPr>
        <p:txBody>
          <a:bodyPr wrap="square" lIns="0" tIns="0" rIns="0" bIns="0" rtlCol="0" anchor="ctr"/>
          <a:lstStyle/>
          <a:p>
            <a:pPr indent="0" marL="0">
              <a:buNone/>
            </a:pPr>
            <a:r>
              <a:rPr lang="en-US" sz="1600" b="1" dirty="0">
                <a:solidFill>
                  <a:schemeClr val="accent2"/>
                </a:solidFill>
              </a:rPr>
              <a:t>1.600,6 tỷ</a:t>
            </a:r>
            <a:endParaRPr lang="en-US" sz="1600" dirty="0"/>
          </a:p>
        </p:txBody>
      </p:sp>
      <p:sp>
        <p:nvSpPr>
          <p:cNvPr id="48" name="Text 45"/>
          <p:cNvSpPr txBox="1"/>
          <p:nvPr/>
        </p:nvSpPr>
        <p:spPr>
          <a:xfrm>
            <a:off x="2240280" y="4069080"/>
            <a:ext cx="9326880" cy="411480"/>
          </a:xfrm>
          <a:prstGeom prst="rect">
            <a:avLst/>
          </a:prstGeom>
          <a:noFill/>
          <a:ln/>
        </p:spPr>
        <p:txBody>
          <a:bodyPr wrap="square" lIns="0" tIns="0" rIns="0" bIns="0" rtlCol="0" anchor="ctr"/>
          <a:lstStyle/>
          <a:p>
            <a:pPr indent="0" marL="0">
              <a:buNone/>
            </a:pPr>
            <a:r>
              <a:rPr lang="en-US" sz="1300" dirty="0">
                <a:solidFill>
                  <a:schemeClr val="tx1"/>
                </a:solidFill>
              </a:rPr>
              <a:t>phí gốc cấp mới + tái tục đã duyệt, lệch -0,1% so với ngân sách PVI — không hệ số k; ngày thấp nhất 57.722 giao dịch nhờ GCN vi mô</a:t>
            </a:r>
            <a:endParaRPr lang="en-US" sz="1300" dirty="0"/>
          </a:p>
        </p:txBody>
      </p:sp>
      <p:sp>
        <p:nvSpPr>
          <p:cNvPr id="49" name="Text 46"/>
          <p:cNvSpPr txBox="1"/>
          <p:nvPr/>
        </p:nvSpPr>
        <p:spPr>
          <a:xfrm>
            <a:off x="548640" y="4572000"/>
            <a:ext cx="1645920" cy="411480"/>
          </a:xfrm>
          <a:prstGeom prst="rect">
            <a:avLst/>
          </a:prstGeom>
          <a:noFill/>
          <a:ln/>
        </p:spPr>
        <p:txBody>
          <a:bodyPr wrap="square" lIns="0" tIns="0" rIns="0" bIns="0" rtlCol="0" anchor="ctr"/>
          <a:lstStyle/>
          <a:p>
            <a:pPr indent="0" marL="0">
              <a:buNone/>
            </a:pPr>
            <a:r>
              <a:rPr lang="en-US" sz="1600" b="1" dirty="0">
                <a:solidFill>
                  <a:schemeClr val="accent2"/>
                </a:solidFill>
              </a:rPr>
              <a:t>− 16,7 tỷ</a:t>
            </a:r>
            <a:endParaRPr lang="en-US" sz="1600" dirty="0"/>
          </a:p>
        </p:txBody>
      </p:sp>
      <p:sp>
        <p:nvSpPr>
          <p:cNvPr id="50" name="Text 47"/>
          <p:cNvSpPr txBox="1"/>
          <p:nvPr/>
        </p:nvSpPr>
        <p:spPr>
          <a:xfrm>
            <a:off x="2240280" y="4572000"/>
            <a:ext cx="9326880" cy="411480"/>
          </a:xfrm>
          <a:prstGeom prst="rect">
            <a:avLst/>
          </a:prstGeom>
          <a:noFill/>
          <a:ln/>
        </p:spPr>
        <p:txBody>
          <a:bodyPr wrap="square" lIns="0" tIns="0" rIns="0" bIns="0" rtlCol="0" anchor="ctr"/>
          <a:lstStyle/>
          <a:p>
            <a:pPr indent="0" marL="0">
              <a:buNone/>
            </a:pPr>
            <a:r>
              <a:rPr lang="en-US" sz="1300" dirty="0">
                <a:solidFill>
                  <a:schemeClr val="tx1"/>
                </a:solidFill>
              </a:rPr>
              <a:t>đơn hiệu lực sau 30/9 (chủ yếu du lịch mua trước chuyến đi) → ghi nhận sau kỳ (TT 67 Đ41)</a:t>
            </a:r>
            <a:endParaRPr lang="en-US" sz="1300" dirty="0"/>
          </a:p>
        </p:txBody>
      </p:sp>
      <p:sp>
        <p:nvSpPr>
          <p:cNvPr id="51" name="Text 48"/>
          <p:cNvSpPr txBox="1"/>
          <p:nvPr/>
        </p:nvSpPr>
        <p:spPr>
          <a:xfrm>
            <a:off x="548640" y="5074920"/>
            <a:ext cx="1645920" cy="411480"/>
          </a:xfrm>
          <a:prstGeom prst="rect">
            <a:avLst/>
          </a:prstGeom>
          <a:noFill/>
          <a:ln/>
        </p:spPr>
        <p:txBody>
          <a:bodyPr wrap="square" lIns="0" tIns="0" rIns="0" bIns="0" rtlCol="0" anchor="ctr"/>
          <a:lstStyle/>
          <a:p>
            <a:pPr indent="0" marL="0">
              <a:buNone/>
            </a:pPr>
            <a:r>
              <a:rPr lang="en-US" sz="1600" b="1" dirty="0">
                <a:solidFill>
                  <a:schemeClr val="accent1"/>
                </a:solidFill>
              </a:rPr>
              <a:t>= 1.577,9 tỷ</a:t>
            </a:r>
            <a:endParaRPr lang="en-US" sz="1600" dirty="0"/>
          </a:p>
        </p:txBody>
      </p:sp>
      <p:sp>
        <p:nvSpPr>
          <p:cNvPr id="52" name="Text 49"/>
          <p:cNvSpPr txBox="1"/>
          <p:nvPr/>
        </p:nvSpPr>
        <p:spPr>
          <a:xfrm>
            <a:off x="2240280" y="5074920"/>
            <a:ext cx="9326880" cy="411480"/>
          </a:xfrm>
          <a:prstGeom prst="rect">
            <a:avLst/>
          </a:prstGeom>
          <a:noFill/>
          <a:ln/>
        </p:spPr>
        <p:txBody>
          <a:bodyPr wrap="square" lIns="0" tIns="0" rIns="0" bIns="0" rtlCol="0" anchor="ctr"/>
          <a:lstStyle/>
          <a:p>
            <a:pPr indent="0" marL="0">
              <a:buNone/>
            </a:pPr>
            <a:r>
              <a:rPr lang="en-US" sz="1300" dirty="0">
                <a:solidFill>
                  <a:schemeClr val="tx1"/>
                </a:solidFill>
              </a:rPr>
              <a:t>doanh thu ghi nhận tháng 8–9 trên DB, đã gồm -5,8 tỷ sửa đổi giảm phí, hoàn phí, hủy (khoản giảm thu)</a:t>
            </a:r>
            <a:endParaRPr lang="en-US" sz="1300" dirty="0"/>
          </a:p>
        </p:txBody>
      </p:sp>
      <p:sp>
        <p:nvSpPr>
          <p:cNvPr id="53" name="Text 50"/>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BCTC kiểm toán 2025 Bảo hiểm PVI, thuyết minh 21 — trang 45 (bản scan); Bộ Tài chính, bản tin tháng 8, 9/2025 và 01/2026; greensm.com, fhsc.com.vn (Green SM &gt; 1 triệu chuyến/ngày); số đo: bronze.ins_* trên reportapi.</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Phân phối: tần suất × độ lớn, và vì sao khách cá nhân ít tiền</a:t>
            </a:r>
            <a:endParaRPr lang="en-US" sz="3000" dirty="0"/>
          </a:p>
        </p:txBody>
      </p:sp>
      <p:graphicFrame>
        <p:nvGraphicFramePr>
          <p:cNvPr id="4" name="Chart 0" descr=""/>
          <p:cNvGraphicFramePr/>
          <p:nvPr/>
        </p:nvGraphicFramePr>
        <p:xfrm>
          <a:off x="457200" y="123444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498080" y="1280160"/>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7680960" y="1371600"/>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Cháy nổ + tài sản: 7,9% đơn → 52,0% doanh thu</a:t>
            </a:r>
            <a:endParaRPr lang="en-US" sz="1500" dirty="0"/>
          </a:p>
          <a:p>
            <a:pPr indent="0" marL="0">
              <a:buNone/>
            </a:pPr>
            <a:r>
              <a:rPr lang="en-US" sz="1200" dirty="0">
                <a:solidFill>
                  <a:schemeClr val="tx1"/>
                </a:solidFill>
              </a:rPr>
              <a:t>1 đơn nhà máy: STBH hàng trăm tỷ × tối thiểu 0,05–0,5% (NĐ 67 PL II) = hàng trăm triệu đến hàng tỷ.</a:t>
            </a:r>
            <a:endParaRPr lang="en-US" sz="1500" dirty="0"/>
          </a:p>
        </p:txBody>
      </p:sp>
      <p:sp>
        <p:nvSpPr>
          <p:cNvPr id="7" name="card"/>
          <p:cNvSpPr/>
          <p:nvPr/>
        </p:nvSpPr>
        <p:spPr>
          <a:xfrm>
            <a:off x="7498080" y="2761488"/>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4"/>
          <p:cNvSpPr txBox="1"/>
          <p:nvPr/>
        </p:nvSpPr>
        <p:spPr>
          <a:xfrm>
            <a:off x="7680960" y="2852928"/>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Cá nhân: 97,2% đơn → 36,6% doanh thu</a:t>
            </a:r>
            <a:endParaRPr lang="en-US" sz="1500" dirty="0"/>
          </a:p>
          <a:p>
            <a:pPr indent="0" marL="0">
              <a:buNone/>
            </a:pPr>
            <a:r>
              <a:rPr lang="en-US" sz="1200" dirty="0">
                <a:solidFill>
                  <a:schemeClr val="tx1"/>
                </a:solidFill>
              </a:rPr>
              <a:t>Gồm cả khách lẻ mua qua đối tác. TNDS ô tô 437.000 đ, xe máy 60.000 đ, du lịch từ 17.000 đ, sức khỏe từ 1,45 triệu — mỗi người một hợp đồng.</a:t>
            </a:r>
            <a:endParaRPr lang="en-US" sz="1500" dirty="0"/>
          </a:p>
        </p:txBody>
      </p:sp>
      <p:sp>
        <p:nvSpPr>
          <p:cNvPr id="9" name="card"/>
          <p:cNvSpPr/>
          <p:nvPr/>
        </p:nvSpPr>
        <p:spPr>
          <a:xfrm>
            <a:off x="7498080" y="4242816"/>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7680960" y="4334256"/>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Vi mô: 77,3% đơn → 1,3% doanh thu</a:t>
            </a:r>
            <a:endParaRPr lang="en-US" sz="1500" dirty="0"/>
          </a:p>
          <a:p>
            <a:pPr indent="0" marL="0">
              <a:buNone/>
            </a:pPr>
            <a:r>
              <a:rPr lang="en-US" sz="1200" dirty="0">
                <a:solidFill>
                  <a:schemeClr val="tx1"/>
                </a:solidFill>
              </a:rPr>
              <a:t>3.155.989 GCN, 20,8 tỷ. Quy mô không đổi; 10% HĐ lớn nhất chiếm 97,7% doanh thu. PVI vẫn thiên khách DN (FPTS tr.14).</a:t>
            </a:r>
            <a:endParaRPr lang="en-US" sz="1500" dirty="0"/>
          </a:p>
        </p:txBody>
      </p:sp>
      <p:sp>
        <p:nvSpPr>
          <p:cNvPr id="11" name="Text 7"/>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NĐ 67/2023 Phụ lục I, II; giá niêm yết online.pvi.com.vn; FPTS định giá PVI 04/2025 — trang 14; greensm.com; opes.com.vn; tỷ lệ % theo phân khúc: giả định.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giả định: cơ sở là gì, vì sao hợp lý với POC</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743200"/>
                <a:gridCol w="4937760"/>
                <a:gridCol w="2377440"/>
                <a:gridCol w="1005840"/>
              </a:tblGrid>
              <a:tr h="457200">
                <a:tc>
                  <a:txBody>
                    <a:bodyPr/>
                    <a:lstStyle/>
                    <a:p>
                      <a:pPr indent="0" marL="0">
                        <a:buNone/>
                      </a:pPr>
                      <a:r>
                        <a:rPr lang="en-US" sz="1300" b="1" dirty="0">
                          <a:solidFill>
                            <a:srgbClr val="FFFFFF"/>
                          </a:solidFill>
                        </a:rPr>
                        <a:t>Giả định</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Cơ sở (nguồn, trang)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Lý do phạm vi POC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Ảnh hưởng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457200">
                <a:tc>
                  <a:txBody>
                    <a:bodyPr/>
                    <a:lstStyle/>
                    <a:p>
                      <a:pPr indent="0" marL="0">
                        <a:buNone/>
                      </a:pPr>
                      <a:r>
                        <a:rPr lang="en-US" sz="1200" b="1" dirty="0">
                          <a:solidFill>
                            <a:srgbClr val="1B2430"/>
                          </a:solidFill>
                        </a:rPr>
                        <a:t>Tài sản thuần = 50% dòng Tài sản</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BCTC không tách năng lượng, kỹ thuật (tr.45); PVI có nghiệp vụ năng lượng (BCTN 2024 tr.57)</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Đề bài chỉ có tài sản, cháy nổ</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C2551E"/>
                          </a:solidFill>
                        </a:rPr>
                        <a:t>Cao</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Con người 75 / 15 / 5 / 5</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Con người PVI tập trung khách DN (FPTS tr.14); du lịch, học sinh phí nhỏ</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PVI không công bố tỷ lệ tách</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C2551E"/>
                          </a:solidFill>
                        </a:rPr>
                        <a:t>Cao</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TNDS 24% / vật chất xe 76%</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Tỷ lệ toàn thị trường IAV 2024: 4.537 / 18.693 tỷ</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PVI không công bố riêng</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40.000 GCN chuyến xe/ngày (+ 11.300 vi mô khác)</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Green SM &gt; 1 triệu chuyến/ngày (fhsc) × 20% mua × 20% về PVI (1/5 nhà BH, greensm.com); OPES 109,3 triệu HĐ 2023</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&gt; 50.000 giao dịch/ngày mà giữ doanh thu PVI</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Trọng số doanh thu 47 đơn vị</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Theo kinh tế địa bàn; ×1,5 đơn vị được vinh danh (tin PVI, pvisg.net); PVI không công bố doanh thu đơn vị</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Có chiều Đơn vị thật để kiểm thử</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Mùa vụ tháng theo thị trường</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Bộ Tài chính 2025: T8 6,35%, T9 9,09% phí gốc cả năm; năm 2026 dùng quy mô 2025</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Chưa có số tháng của PVI</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Trọng số kênh theo từng sản phẩm</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Định hướng: TMĐT ≈ 800 tỷ 2024 (BCTN tr.29), môi giới thị trường 13,5%; trên DB điện tử 8,0% doanh thu (thấp hơn ~10% của PVI)</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Đủ 7 kênh, 3 nhóm Mẫu 3-PNT</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rPr>
                        <a:t>Đồng BH khi STBH ≥ 300 tỷ</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Liên danh thực tế: Vietnam Airlines 3 DN, Long Thành 6 DN, Vinalines</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100" dirty="0">
                          <a:solidFill>
                            <a:srgbClr val="1B2430"/>
                          </a:solidFill>
                        </a:rPr>
                        <a:t>Có kịch bản đứng đầu / tham gia</a:t>
                      </a:r>
                      <a:endParaRPr lang="en-US" sz="11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300" b="1" dirty="0">
                <a:solidFill>
                  <a:schemeClr val="tx2"/>
                </a:solidFill>
              </a:rPr>
              <a:t>Tham số ngẫu nhiên: </a:t>
            </a:r>
            <a:pPr indent="0" marL="0">
              <a:buNone/>
            </a:pPr>
            <a:r>
              <a:rPr lang="en-US" sz="1300" dirty="0">
                <a:solidFill>
                  <a:schemeClr val="tx1"/>
                </a:solidFill>
              </a:rPr>
              <a:t>chọn ngẫu nhiên trong khoảng hợp lý (ngày, giá xe, STBH, cỡ lô, tỷ lệ phí); tổng đã hiệu chỉnh nên không đổi doanh thu.</a:t>
            </a:r>
            <a:endParaRPr lang="en-US" sz="1300" dirty="0"/>
          </a:p>
        </p:txBody>
      </p:sp>
      <p:sp>
        <p:nvSpPr>
          <p:cNvPr id="6" name="Text 2"/>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BCTC kiểm toán PVI 2025 — tr.45; BCTN PVI 2024 — tr.29, 57; FPTS — tr.14; IAV 2024; fhsc.com.vn, greensm.com, opes.com.vn; pvi.com.vn, pvisg.net; fireant.vn, baodauthau.vn.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Kết quả, giới hạn và ba con số cần nhớ</a:t>
            </a:r>
            <a:endParaRPr lang="en-US" sz="3000" dirty="0"/>
          </a:p>
        </p:txBody>
      </p:sp>
      <p:sp>
        <p:nvSpPr>
          <p:cNvPr id="4" name="card"/>
          <p:cNvSpPr/>
          <p:nvPr/>
        </p:nvSpPr>
        <p:spPr>
          <a:xfrm>
            <a:off x="548640" y="1280160"/>
            <a:ext cx="3566160" cy="44805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77240" y="1417320"/>
            <a:ext cx="3108960" cy="365760"/>
          </a:xfrm>
          <a:prstGeom prst="rect">
            <a:avLst/>
          </a:prstGeom>
          <a:noFill/>
          <a:ln/>
        </p:spPr>
        <p:txBody>
          <a:bodyPr wrap="square" lIns="0" tIns="0" rIns="0" bIns="0" rtlCol="0" anchor="t"/>
          <a:lstStyle/>
          <a:p>
            <a:pPr indent="0" marL="0">
              <a:buNone/>
            </a:pPr>
            <a:r>
              <a:rPr lang="en-US" sz="1600" b="1" dirty="0">
                <a:solidFill>
                  <a:schemeClr val="tx2"/>
                </a:solidFill>
              </a:rPr>
              <a:t>Kết quả T8–T9/2026 (trên DB)</a:t>
            </a:r>
            <a:endParaRPr lang="en-US" sz="1600" dirty="0"/>
          </a:p>
        </p:txBody>
      </p:sp>
      <p:sp>
        <p:nvSpPr>
          <p:cNvPr id="6" name="Text 3"/>
          <p:cNvSpPr txBox="1"/>
          <p:nvPr/>
        </p:nvSpPr>
        <p:spPr>
          <a:xfrm>
            <a:off x="2103120" y="1810512"/>
            <a:ext cx="1828800" cy="274320"/>
          </a:xfrm>
          <a:prstGeom prst="rect">
            <a:avLst/>
          </a:prstGeom>
          <a:noFill/>
          <a:ln/>
        </p:spPr>
        <p:txBody>
          <a:bodyPr wrap="square" lIns="0" tIns="0" rIns="0" bIns="0" rtlCol="0" anchor="t"/>
          <a:lstStyle/>
          <a:p>
            <a:pPr algn="r" indent="0" marL="0">
              <a:buNone/>
            </a:pPr>
            <a:r>
              <a:rPr lang="en-US" sz="1100" dirty="0">
                <a:solidFill>
                  <a:srgbClr val="5B6673"/>
                </a:solidFill>
              </a:rPr>
              <a:t>Dummy · Công bố</a:t>
            </a:r>
            <a:endParaRPr lang="en-US" sz="1100" dirty="0"/>
          </a:p>
        </p:txBody>
      </p:sp>
      <p:sp>
        <p:nvSpPr>
          <p:cNvPr id="7" name="Text 4"/>
          <p:cNvSpPr txBox="1"/>
          <p:nvPr/>
        </p:nvSpPr>
        <p:spPr>
          <a:xfrm>
            <a:off x="777240" y="2148840"/>
            <a:ext cx="1645920" cy="411480"/>
          </a:xfrm>
          <a:prstGeom prst="rect">
            <a:avLst/>
          </a:prstGeom>
          <a:noFill/>
          <a:ln/>
        </p:spPr>
        <p:txBody>
          <a:bodyPr wrap="square" lIns="0" tIns="0" rIns="0" bIns="0" rtlCol="0" anchor="ctr"/>
          <a:lstStyle/>
          <a:p>
            <a:pPr indent="0" marL="0">
              <a:buNone/>
            </a:pPr>
            <a:r>
              <a:rPr lang="en-US" sz="1300" dirty="0">
                <a:solidFill>
                  <a:schemeClr val="tx1"/>
                </a:solidFill>
              </a:rPr>
              <a:t>Tài sản + cháy nổ</a:t>
            </a:r>
            <a:endParaRPr lang="en-US" sz="1300" dirty="0"/>
          </a:p>
        </p:txBody>
      </p:sp>
      <p:sp>
        <p:nvSpPr>
          <p:cNvPr id="8" name="Text 5"/>
          <p:cNvSpPr txBox="1"/>
          <p:nvPr/>
        </p:nvSpPr>
        <p:spPr>
          <a:xfrm>
            <a:off x="2103120" y="21488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52,0%</a:t>
            </a:r>
            <a:pPr algn="r" indent="0" marL="0">
              <a:buNone/>
            </a:pPr>
            <a:r>
              <a:rPr lang="en-US" sz="1500" dirty="0">
                <a:solidFill>
                  <a:srgbClr val="5B6673"/>
                </a:solidFill>
              </a:rPr>
              <a:t>  51,5%</a:t>
            </a:r>
            <a:endParaRPr lang="en-US" sz="1500" dirty="0"/>
          </a:p>
        </p:txBody>
      </p:sp>
      <p:sp>
        <p:nvSpPr>
          <p:cNvPr id="9" name="Text 6"/>
          <p:cNvSpPr txBox="1"/>
          <p:nvPr/>
        </p:nvSpPr>
        <p:spPr>
          <a:xfrm>
            <a:off x="777240" y="2606040"/>
            <a:ext cx="1645920" cy="411480"/>
          </a:xfrm>
          <a:prstGeom prst="rect">
            <a:avLst/>
          </a:prstGeom>
          <a:noFill/>
          <a:ln/>
        </p:spPr>
        <p:txBody>
          <a:bodyPr wrap="square" lIns="0" tIns="0" rIns="0" bIns="0" rtlCol="0" anchor="ctr"/>
          <a:lstStyle/>
          <a:p>
            <a:pPr indent="0" marL="0">
              <a:buNone/>
            </a:pPr>
            <a:r>
              <a:rPr lang="en-US" sz="1300" dirty="0">
                <a:solidFill>
                  <a:schemeClr val="tx1"/>
                </a:solidFill>
              </a:rPr>
              <a:t>Con người</a:t>
            </a:r>
            <a:endParaRPr lang="en-US" sz="1300" dirty="0"/>
          </a:p>
        </p:txBody>
      </p:sp>
      <p:sp>
        <p:nvSpPr>
          <p:cNvPr id="10" name="Text 7"/>
          <p:cNvSpPr txBox="1"/>
          <p:nvPr/>
        </p:nvSpPr>
        <p:spPr>
          <a:xfrm>
            <a:off x="2103120" y="26060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30,4%</a:t>
            </a:r>
            <a:pPr algn="r" indent="0" marL="0">
              <a:buNone/>
            </a:pPr>
            <a:r>
              <a:rPr lang="en-US" sz="1500" dirty="0">
                <a:solidFill>
                  <a:srgbClr val="5B6673"/>
                </a:solidFill>
              </a:rPr>
              <a:t>  31,0%</a:t>
            </a:r>
            <a:endParaRPr lang="en-US" sz="1500" dirty="0"/>
          </a:p>
        </p:txBody>
      </p:sp>
      <p:sp>
        <p:nvSpPr>
          <p:cNvPr id="11" name="Text 8"/>
          <p:cNvSpPr txBox="1"/>
          <p:nvPr/>
        </p:nvSpPr>
        <p:spPr>
          <a:xfrm>
            <a:off x="777240" y="3063240"/>
            <a:ext cx="1645920" cy="411480"/>
          </a:xfrm>
          <a:prstGeom prst="rect">
            <a:avLst/>
          </a:prstGeom>
          <a:noFill/>
          <a:ln/>
        </p:spPr>
        <p:txBody>
          <a:bodyPr wrap="square" lIns="0" tIns="0" rIns="0" bIns="0" rtlCol="0" anchor="ctr"/>
          <a:lstStyle/>
          <a:p>
            <a:pPr indent="0" marL="0">
              <a:buNone/>
            </a:pPr>
            <a:r>
              <a:rPr lang="en-US" sz="1300" dirty="0">
                <a:solidFill>
                  <a:schemeClr val="tx1"/>
                </a:solidFill>
              </a:rPr>
              <a:t>Xe</a:t>
            </a:r>
            <a:endParaRPr lang="en-US" sz="1300" dirty="0"/>
          </a:p>
        </p:txBody>
      </p:sp>
      <p:sp>
        <p:nvSpPr>
          <p:cNvPr id="12" name="Text 9"/>
          <p:cNvSpPr txBox="1"/>
          <p:nvPr/>
        </p:nvSpPr>
        <p:spPr>
          <a:xfrm>
            <a:off x="2103120" y="30632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17,6%</a:t>
            </a:r>
            <a:pPr algn="r" indent="0" marL="0">
              <a:buNone/>
            </a:pPr>
            <a:r>
              <a:rPr lang="en-US" sz="1500" dirty="0">
                <a:solidFill>
                  <a:srgbClr val="5B6673"/>
                </a:solidFill>
              </a:rPr>
              <a:t>  17,6%</a:t>
            </a:r>
            <a:endParaRPr lang="en-US" sz="1500" dirty="0"/>
          </a:p>
        </p:txBody>
      </p:sp>
      <p:sp>
        <p:nvSpPr>
          <p:cNvPr id="13" name="Text 10"/>
          <p:cNvSpPr txBox="1"/>
          <p:nvPr/>
        </p:nvSpPr>
        <p:spPr>
          <a:xfrm>
            <a:off x="777240" y="3657600"/>
            <a:ext cx="3154680" cy="192024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Doanh thu: </a:t>
            </a:r>
            <a:pPr indent="0" marL="0">
              <a:spcAft>
                <a:spcPts val="600"/>
              </a:spcAft>
              <a:buNone/>
            </a:pPr>
            <a:r>
              <a:rPr lang="en-US" sz="1300" dirty="0">
                <a:solidFill>
                  <a:schemeClr val="tx1"/>
                </a:solidFill>
              </a:rPr>
              <a:t>1.578 tỷ (T8 639 · T9 939) = quy mô PVI</a:t>
            </a:r>
            <a:endParaRPr lang="en-US" sz="1300" dirty="0"/>
          </a:p>
          <a:p>
            <a:pPr indent="0" marL="0">
              <a:spcAft>
                <a:spcPts val="600"/>
              </a:spcAft>
              <a:buNone/>
            </a:pPr>
            <a:r>
              <a:rPr lang="en-US" sz="1300" b="1" dirty="0">
                <a:solidFill>
                  <a:schemeClr val="tx1"/>
                </a:solidFill>
              </a:rPr>
              <a:t>Giao dịch/ngày: </a:t>
            </a:r>
            <a:pPr indent="0" marL="0">
              <a:spcAft>
                <a:spcPts val="600"/>
              </a:spcAft>
              <a:buNone/>
            </a:pPr>
            <a:r>
              <a:rPr lang="en-US" sz="1300" dirty="0">
                <a:solidFill>
                  <a:schemeClr val="tx1"/>
                </a:solidFill>
              </a:rPr>
              <a:t>T8 57.722–69.201 · T9 62.635–77.822</a:t>
            </a:r>
            <a:endParaRPr lang="en-US" sz="1300" dirty="0"/>
          </a:p>
          <a:p>
            <a:pPr indent="0" marL="0">
              <a:spcAft>
                <a:spcPts val="600"/>
              </a:spcAft>
              <a:buNone/>
            </a:pPr>
            <a:r>
              <a:rPr lang="en-US" sz="1300" b="1" dirty="0">
                <a:solidFill>
                  <a:schemeClr val="tx1"/>
                </a:solidFill>
              </a:rPr>
              <a:t>Kênh điện tử: </a:t>
            </a:r>
            <a:pPr indent="0" marL="0">
              <a:spcAft>
                <a:spcPts val="600"/>
              </a:spcAft>
              <a:buNone/>
            </a:pPr>
            <a:r>
              <a:rPr lang="en-US" sz="1300" dirty="0">
                <a:solidFill>
                  <a:schemeClr val="tx1"/>
                </a:solidFill>
              </a:rPr>
              <a:t>8,0% doanh thu (PVI ≈ 6–10%)</a:t>
            </a:r>
            <a:endParaRPr lang="en-US" sz="1300" dirty="0"/>
          </a:p>
        </p:txBody>
      </p:sp>
      <p:sp>
        <p:nvSpPr>
          <p:cNvPr id="14" name="card"/>
          <p:cNvSpPr/>
          <p:nvPr/>
        </p:nvSpPr>
        <p:spPr>
          <a:xfrm>
            <a:off x="4297680" y="1280160"/>
            <a:ext cx="3566160" cy="4480560"/>
          </a:xfrm>
          <a:prstGeom prst="roundRect">
            <a:avLst>
              <a:gd name="adj" fmla="val 3077"/>
            </a:avLst>
          </a:prstGeom>
          <a:solidFill>
            <a:srgbClr val="FBE9DF"/>
          </a:solidFill>
          <a:ln w="12700">
            <a:solidFill>
              <a:srgbClr val="FBE9D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526280" y="1417320"/>
            <a:ext cx="3108960" cy="365760"/>
          </a:xfrm>
          <a:prstGeom prst="rect">
            <a:avLst/>
          </a:prstGeom>
          <a:noFill/>
          <a:ln/>
        </p:spPr>
        <p:txBody>
          <a:bodyPr wrap="square" lIns="0" tIns="0" rIns="0" bIns="0" rtlCol="0" anchor="t"/>
          <a:lstStyle/>
          <a:p>
            <a:pPr indent="0" marL="0">
              <a:buNone/>
            </a:pPr>
            <a:r>
              <a:rPr lang="en-US" sz="1600" b="1" dirty="0">
                <a:solidFill>
                  <a:schemeClr val="accent2"/>
                </a:solidFill>
              </a:rPr>
              <a:t>Giới hạn</a:t>
            </a:r>
            <a:endParaRPr lang="en-US" sz="1600" dirty="0"/>
          </a:p>
        </p:txBody>
      </p:sp>
      <p:sp>
        <p:nvSpPr>
          <p:cNvPr id="16" name="Text 13"/>
          <p:cNvSpPr txBox="1"/>
          <p:nvPr/>
        </p:nvSpPr>
        <p:spPr>
          <a:xfrm>
            <a:off x="4526280" y="1874520"/>
            <a:ext cx="315468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Số GCN vi mô/ngày và doanh thu từng đơn vị PVI là ước tính (PVI không công bố)</a:t>
            </a:r>
            <a:endParaRPr lang="en-US" sz="1300" dirty="0"/>
          </a:p>
          <a:p>
            <a:pPr marL="342900" indent="-342900">
              <a:spcAft>
                <a:spcPts val="800"/>
              </a:spcAft>
              <a:buSzPct val="100000"/>
              <a:buChar char="•"/>
            </a:pPr>
            <a:r>
              <a:rPr lang="en-US" sz="1300" dirty="0">
                <a:solidFill>
                  <a:schemeClr val="tx1"/>
                </a:solidFill>
              </a:rPr>
              <a:t>Vi mô 77% số hợp đồng nhưng 1,3% doanh thu — tách số giao dịch và doanh thu</a:t>
            </a:r>
            <a:endParaRPr lang="en-US" sz="1300" dirty="0"/>
          </a:p>
          <a:p>
            <a:pPr marL="342900" indent="-342900">
              <a:spcAft>
                <a:spcPts val="800"/>
              </a:spcAft>
              <a:buSzPct val="100000"/>
              <a:buChar char="•"/>
            </a:pPr>
            <a:r>
              <a:rPr lang="en-US" sz="1300" dirty="0">
                <a:solidFill>
                  <a:schemeClr val="tx1"/>
                </a:solidFill>
              </a:rPr>
              <a:t>Chia con trong nghiệp vụ là giả định; tổng đúng số công bố</a:t>
            </a:r>
            <a:endParaRPr lang="en-US" sz="1300" dirty="0"/>
          </a:p>
          <a:p>
            <a:pPr marL="342900" indent="-342900">
              <a:spcAft>
                <a:spcPts val="800"/>
              </a:spcAft>
              <a:buSzPct val="100000"/>
              <a:buChar char="•"/>
            </a:pPr>
            <a:r>
              <a:rPr lang="en-US" sz="1300" dirty="0">
                <a:solidFill>
                  <a:schemeClr val="tx1"/>
                </a:solidFill>
              </a:rPr>
              <a:t>Tỷ lệ phí cháy nổ theo NĐ 67 bản 2023 (bản thay thế chỉ có scan)</a:t>
            </a:r>
            <a:endParaRPr lang="en-US" sz="1300" dirty="0"/>
          </a:p>
        </p:txBody>
      </p:sp>
      <p:sp>
        <p:nvSpPr>
          <p:cNvPr id="17" name="card"/>
          <p:cNvSpPr/>
          <p:nvPr/>
        </p:nvSpPr>
        <p:spPr>
          <a:xfrm>
            <a:off x="8046720" y="1280160"/>
            <a:ext cx="3566160" cy="44805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8275320" y="1417320"/>
            <a:ext cx="3108960" cy="365760"/>
          </a:xfrm>
          <a:prstGeom prst="rect">
            <a:avLst/>
          </a:prstGeom>
          <a:noFill/>
          <a:ln/>
        </p:spPr>
        <p:txBody>
          <a:bodyPr wrap="square" lIns="0" tIns="0" rIns="0" bIns="0" rtlCol="0" anchor="t"/>
          <a:lstStyle/>
          <a:p>
            <a:pPr indent="0" marL="0">
              <a:buNone/>
            </a:pPr>
            <a:r>
              <a:rPr lang="en-US" sz="1600" b="1" dirty="0">
                <a:solidFill>
                  <a:schemeClr val="tx2"/>
                </a:solidFill>
              </a:rPr>
              <a:t>Ba con số cần nhớ</a:t>
            </a:r>
            <a:endParaRPr lang="en-US" sz="1600" dirty="0"/>
          </a:p>
        </p:txBody>
      </p:sp>
      <p:sp>
        <p:nvSpPr>
          <p:cNvPr id="19" name="Text 16"/>
          <p:cNvSpPr txBox="1"/>
          <p:nvPr/>
        </p:nvSpPr>
        <p:spPr>
          <a:xfrm>
            <a:off x="8275320" y="192024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57.722+</a:t>
            </a:r>
            <a:endParaRPr lang="en-US" sz="2800" dirty="0"/>
          </a:p>
        </p:txBody>
      </p:sp>
      <p:sp>
        <p:nvSpPr>
          <p:cNvPr id="20" name="Text 17"/>
          <p:cNvSpPr txBox="1"/>
          <p:nvPr/>
        </p:nvSpPr>
        <p:spPr>
          <a:xfrm>
            <a:off x="8275320" y="2468880"/>
            <a:ext cx="3108960" cy="548640"/>
          </a:xfrm>
          <a:prstGeom prst="rect">
            <a:avLst/>
          </a:prstGeom>
          <a:noFill/>
          <a:ln/>
        </p:spPr>
        <p:txBody>
          <a:bodyPr wrap="square" lIns="0" tIns="0" rIns="0" bIns="0" rtlCol="0" anchor="t"/>
          <a:lstStyle/>
          <a:p>
            <a:pPr indent="0" marL="0">
              <a:buNone/>
            </a:pPr>
            <a:r>
              <a:rPr lang="en-US" sz="1200" dirty="0">
                <a:solidFill>
                  <a:srgbClr val="5B6673"/>
                </a:solidFill>
              </a:rPr>
              <a:t>giao dịch/ngày thấp nhất (T8 57.722–69.201, T9 62.635–77.822)</a:t>
            </a:r>
            <a:endParaRPr lang="en-US" sz="1200" dirty="0"/>
          </a:p>
        </p:txBody>
      </p:sp>
      <p:sp>
        <p:nvSpPr>
          <p:cNvPr id="21" name="Text 18"/>
          <p:cNvSpPr txBox="1"/>
          <p:nvPr/>
        </p:nvSpPr>
        <p:spPr>
          <a:xfrm>
            <a:off x="8275320" y="3154680"/>
            <a:ext cx="310896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52,0 / 30,4 / 17,6</a:t>
            </a:r>
            <a:endParaRPr lang="en-US" sz="2800" dirty="0"/>
          </a:p>
        </p:txBody>
      </p:sp>
      <p:sp>
        <p:nvSpPr>
          <p:cNvPr id="22" name="Text 19"/>
          <p:cNvSpPr txBox="1"/>
          <p:nvPr/>
        </p:nvSpPr>
        <p:spPr>
          <a:xfrm>
            <a:off x="8275320" y="3703320"/>
            <a:ext cx="3108960" cy="548640"/>
          </a:xfrm>
          <a:prstGeom prst="rect">
            <a:avLst/>
          </a:prstGeom>
          <a:noFill/>
          <a:ln/>
        </p:spPr>
        <p:txBody>
          <a:bodyPr wrap="square" lIns="0" tIns="0" rIns="0" bIns="0" rtlCol="0" anchor="t"/>
          <a:lstStyle/>
          <a:p>
            <a:pPr indent="0" marL="0">
              <a:buNone/>
            </a:pPr>
            <a:r>
              <a:rPr lang="en-US" sz="1200" dirty="0">
                <a:solidFill>
                  <a:srgbClr val="5B6673"/>
                </a:solidFill>
              </a:rPr>
              <a:t>% doanh thu tài sản / con người / xe — khớp BCTC PVI 51,5 / 31,0 / 17,6</a:t>
            </a:r>
            <a:endParaRPr lang="en-US" sz="1200" dirty="0"/>
          </a:p>
        </p:txBody>
      </p:sp>
      <p:sp>
        <p:nvSpPr>
          <p:cNvPr id="23" name="Text 20"/>
          <p:cNvSpPr txBox="1"/>
          <p:nvPr/>
        </p:nvSpPr>
        <p:spPr>
          <a:xfrm>
            <a:off x="8275320" y="4389120"/>
            <a:ext cx="310896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88 tham số</a:t>
            </a:r>
            <a:endParaRPr lang="en-US" sz="2800" dirty="0"/>
          </a:p>
        </p:txBody>
      </p:sp>
      <p:sp>
        <p:nvSpPr>
          <p:cNvPr id="24" name="Text 21"/>
          <p:cNvSpPr txBox="1"/>
          <p:nvPr/>
        </p:nvSpPr>
        <p:spPr>
          <a:xfrm>
            <a:off x="8275320" y="4937760"/>
            <a:ext cx="3108960" cy="548640"/>
          </a:xfrm>
          <a:prstGeom prst="rect">
            <a:avLst/>
          </a:prstGeom>
          <a:noFill/>
          <a:ln/>
        </p:spPr>
        <p:txBody>
          <a:bodyPr wrap="square" lIns="0" tIns="0" rIns="0" bIns="0" rtlCol="0" anchor="t"/>
          <a:lstStyle/>
          <a:p>
            <a:pPr indent="0" marL="0">
              <a:buNone/>
            </a:pPr>
            <a:r>
              <a:rPr lang="en-US" sz="1200" dirty="0">
                <a:solidFill>
                  <a:srgbClr val="5B6673"/>
                </a:solidFill>
              </a:rPr>
              <a:t>đều có căn cứ; 64 có phần giả định, mỗi giả định có cơ sở</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POC Doanh thu bao hiem">
  <a:themeElements>
    <a:clrScheme name="POC Doanh thu bao hiem">
      <a:dk1>
        <a:srgbClr val="1B2430"/>
      </a:dk1>
      <a:lt1>
        <a:srgbClr val="FFFFFF"/>
      </a:lt1>
      <a:dk2>
        <a:srgbClr val="0B3B40"/>
      </a:dk2>
      <a:lt2>
        <a:srgbClr val="EAF2F2"/>
      </a:lt2>
      <a:accent1>
        <a:srgbClr val="0F6E75"/>
      </a:accent1>
      <a:accent2>
        <a:srgbClr val="C2551E"/>
      </a:accent2>
      <a:accent3>
        <a:srgbClr val="2E7D4F"/>
      </a:accent3>
      <a:accent4>
        <a:srgbClr val="3E5C99"/>
      </a:accent4>
      <a:accent5>
        <a:srgbClr val="7A4E9A"/>
      </a:accent5>
      <a:accent6>
        <a:srgbClr val="9A6A1E"/>
      </a:accent6>
      <a:hlink>
        <a:srgbClr val="0F6E75"/>
      </a:hlink>
      <a:folHlink>
        <a:srgbClr val="7A4E9A"/>
      </a:folHlink>
    </a:clrScheme>
    <a:fontScheme name="POC Doanh thu bao hi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dữ liệu nguồn cho POC Doanh thu bảo hiểm</dc:title>
  <dc:subject>PptxGenJS Presentation</dc:subject>
  <dc:creator>PptxGenJS</dc:creator>
  <cp:lastModifiedBy>PptxGenJS</cp:lastModifiedBy>
  <cp:revision>1</cp:revision>
  <dcterms:created xsi:type="dcterms:W3CDTF">2026-10-19T06:54:07Z</dcterms:created>
  <dcterms:modified xsi:type="dcterms:W3CDTF">2026-10-19T06:54:07Z</dcterms:modified>
</cp:coreProperties>
</file>